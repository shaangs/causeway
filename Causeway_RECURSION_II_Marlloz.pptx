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12192000"/>
  <p:notesSz cx="6858000" cy="12192000"/>
  <p:embeddedFontLst>
    <p:embeddedFont>
      <p:font typeface="Arial Black"/>
      <p:regular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jmTIDMTlOXkhW/XgO8rYQcdrsy0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MIC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47496C2-0CEE-4B0A-BE6E-AE1266184CF1}">
  <a:tblStyle styleId="{D47496C2-0CEE-4B0A-BE6E-AE1266184CF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font" Target="fonts/ArialBlack-regular.fntdata"/><Relationship Id="rId17" Type="http://customschemas.google.com/relationships/presentationmetadata" Target="metadata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8-26T12:34:01.183">
    <p:pos x="6000" y="0"/>
    <p:text>&gt;&gt;Click on File 
&gt;&gt;&gt;&gt;Make a copy
&gt;&gt;&gt;&gt;&gt;&gt;Entire presentation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AWB6OJc"/>
      </p:ext>
    </p:extLs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Cover: fill TRACK, PROJECT TITLE, ONE-LINE PITCH and TEAM names. Phone &amp; email for each member goes on the last slide, frame 09. Keep layout, colours &amp; logos as-is. RECURSION is TechnoVIT's flagship hackathon.</a:t>
            </a:r>
            <a:endParaRPr/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 each question in 2–3 plain lines. Someone outside your track should understand every answer.</a:t>
            </a:r>
            <a:endParaRPr/>
          </a:p>
        </p:txBody>
      </p:sp>
      <p:sp>
        <p:nvSpPr>
          <p:cNvPr id="59" name="Google Shape;59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 the product plainly. The three answers should connect directly back to the problems on frame 02.</a:t>
            </a:r>
            <a:endParaRPr/>
          </a:p>
        </p:txBody>
      </p:sp>
      <p:sp>
        <p:nvSpPr>
          <p:cNvPr id="95" name="Google Shape;95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Replace the placeholder flow with your real architecture diagram. Name real services and models, then answer the three questions.</a:t>
            </a:r>
            <a:endParaRPr/>
          </a:p>
        </p:txBody>
      </p:sp>
      <p:sp>
        <p:nvSpPr>
          <p:cNvPr id="134" name="Google Shape;134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" name="Google Shape;18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 honest about scope. A working slice with a known limit beats an over-promised demo.</a:t>
            </a:r>
            <a:endParaRPr/>
          </a:p>
        </p:txBody>
      </p:sp>
      <p:sp>
        <p:nvSpPr>
          <p:cNvPr id="182" name="Google Shape;18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8" name="Google Shape;218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Pick one primary metric. Show how it was measured — an estimate is fine if you show your working.</a:t>
            </a:r>
            <a:endParaRPr/>
          </a:p>
        </p:txBody>
      </p:sp>
      <p:sp>
        <p:nvSpPr>
          <p:cNvPr id="219" name="Google Shape;219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9" name="Google Shape;259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source per line — papers, repos, docs, datasets, model weights. Uncredited work is disqualifying.</a:t>
            </a:r>
            <a:endParaRPr/>
          </a:p>
        </p:txBody>
      </p:sp>
      <p:sp>
        <p:nvSpPr>
          <p:cNvPr id="260" name="Google Shape;260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8" name="Google Shape;278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Optional space: demo links, screenshots, GitHub, QR codes, anything extra that strengthens the submission. Delete the checklist sticker and the hint line once you're done.</a:t>
            </a:r>
            <a:endParaRPr/>
          </a:p>
        </p:txBody>
      </p:sp>
      <p:sp>
        <p:nvSpPr>
          <p:cNvPr id="279" name="Google Shape;279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0" name="Google Shape;300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 every member's phone and email so organisers and judges can follow up after the round. This slide is for the submission file — remove it if presenting live on stage.</a:t>
            </a:r>
            <a:endParaRPr/>
          </a:p>
        </p:txBody>
      </p:sp>
      <p:sp>
        <p:nvSpPr>
          <p:cNvPr id="301" name="Google Shape;301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1"/>
          <p:cNvSpPr/>
          <p:nvPr/>
        </p:nvSpPr>
        <p:spPr>
          <a:xfrm>
            <a:off x="682244" y="274320"/>
            <a:ext cx="25400" cy="29260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Google Shape;14;p1"/>
          <p:cNvSpPr/>
          <p:nvPr/>
        </p:nvSpPr>
        <p:spPr>
          <a:xfrm>
            <a:off x="694944" y="407924"/>
            <a:ext cx="146304" cy="25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Google Shape;15;p1"/>
          <p:cNvSpPr txBox="1"/>
          <p:nvPr/>
        </p:nvSpPr>
        <p:spPr>
          <a:xfrm>
            <a:off x="987552" y="329184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THE FLAGSHIP MIC HACKATHON OF TECHNOVIT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 txBox="1"/>
          <p:nvPr/>
        </p:nvSpPr>
        <p:spPr>
          <a:xfrm>
            <a:off x="6400800" y="329184"/>
            <a:ext cx="3977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IDEA SUBMISSION — TEMPLATE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548640" y="914400"/>
            <a:ext cx="7543800" cy="1207008"/>
          </a:xfrm>
          <a:prstGeom prst="rect">
            <a:avLst/>
          </a:prstGeom>
          <a:solidFill>
            <a:srgbClr val="FF3D1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1016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 txBox="1"/>
          <p:nvPr/>
        </p:nvSpPr>
        <p:spPr>
          <a:xfrm>
            <a:off x="777240" y="960120"/>
            <a:ext cx="722376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800"/>
              <a:buFont typeface="Arial Black"/>
              <a:buNone/>
            </a:pPr>
            <a:r>
              <a:rPr b="0" i="0" lang="en-US" sz="6800" u="none" cap="none" strike="noStrike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RECURSION</a:t>
            </a:r>
            <a:endParaRPr b="0" i="0" sz="6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 rot="-180000">
            <a:off x="8458200" y="1078992"/>
            <a:ext cx="1965960" cy="566928"/>
          </a:xfrm>
          <a:prstGeom prst="rect">
            <a:avLst/>
          </a:prstGeom>
          <a:solidFill>
            <a:srgbClr val="111111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 txBox="1"/>
          <p:nvPr/>
        </p:nvSpPr>
        <p:spPr>
          <a:xfrm rot="-180000">
            <a:off x="8458200" y="1088136"/>
            <a:ext cx="1965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1500"/>
              <a:buFont typeface="Arial Black"/>
              <a:buNone/>
            </a:pPr>
            <a:r>
              <a:rPr b="0" i="0" lang="en-US" sz="1500" u="none" cap="none" strike="noStrike">
                <a:solidFill>
                  <a:srgbClr val="FAF4E8"/>
                </a:solidFill>
                <a:latin typeface="Arial Black"/>
                <a:ea typeface="Arial Black"/>
                <a:cs typeface="Arial Black"/>
                <a:sym typeface="Arial Black"/>
              </a:rPr>
              <a:t>EDITION II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0835640" y="896112"/>
            <a:ext cx="841248" cy="841248"/>
          </a:xfrm>
          <a:prstGeom prst="rect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11240389" y="896112"/>
            <a:ext cx="31750" cy="84124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Google Shape;23;p1"/>
          <p:cNvSpPr/>
          <p:nvPr/>
        </p:nvSpPr>
        <p:spPr>
          <a:xfrm>
            <a:off x="11256264" y="1300861"/>
            <a:ext cx="420624" cy="3175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Google Shape;24;p1"/>
          <p:cNvSpPr/>
          <p:nvPr/>
        </p:nvSpPr>
        <p:spPr>
          <a:xfrm>
            <a:off x="11450701" y="1316736"/>
            <a:ext cx="31750" cy="42062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Google Shape;25;p1"/>
          <p:cNvSpPr/>
          <p:nvPr/>
        </p:nvSpPr>
        <p:spPr>
          <a:xfrm>
            <a:off x="11466576" y="1511173"/>
            <a:ext cx="210312" cy="3175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Google Shape;26;p1"/>
          <p:cNvSpPr txBox="1"/>
          <p:nvPr/>
        </p:nvSpPr>
        <p:spPr>
          <a:xfrm>
            <a:off x="594360" y="2395728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to understand recursion, first understand recursion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548640" y="2907792"/>
            <a:ext cx="7269480" cy="3127248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889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896112" y="3218688"/>
            <a:ext cx="128016" cy="128016"/>
          </a:xfrm>
          <a:prstGeom prst="rect">
            <a:avLst/>
          </a:prstGeom>
          <a:solidFill>
            <a:srgbClr val="FF3D1F"/>
          </a:solidFill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 txBox="1"/>
          <p:nvPr/>
        </p:nvSpPr>
        <p:spPr>
          <a:xfrm>
            <a:off x="1115568" y="3182112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PROJECT TITLE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 txBox="1"/>
          <p:nvPr/>
        </p:nvSpPr>
        <p:spPr>
          <a:xfrm>
            <a:off x="896112" y="3456432"/>
            <a:ext cx="6583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00"/>
              <a:buFont typeface="Arial Black"/>
              <a:buNone/>
            </a:pPr>
            <a:r>
              <a:rPr b="0" i="0" lang="en-US" sz="1900" u="none" cap="none" strike="noStrike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Causeway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896112" y="4032123"/>
            <a:ext cx="6583680" cy="1905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Google Shape;32;p1"/>
          <p:cNvSpPr/>
          <p:nvPr/>
        </p:nvSpPr>
        <p:spPr>
          <a:xfrm>
            <a:off x="896112" y="4261104"/>
            <a:ext cx="128016" cy="128016"/>
          </a:xfrm>
          <a:prstGeom prst="rect">
            <a:avLst/>
          </a:prstGeom>
          <a:solidFill>
            <a:srgbClr val="111111"/>
          </a:solidFill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 txBox="1"/>
          <p:nvPr/>
        </p:nvSpPr>
        <p:spPr>
          <a:xfrm>
            <a:off x="1115568" y="422452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ONE-LINE PITCH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 txBox="1"/>
          <p:nvPr/>
        </p:nvSpPr>
        <p:spPr>
          <a:xfrm>
            <a:off x="896112" y="4480560"/>
            <a:ext cx="6583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250"/>
              <a:buFont typeface="Arial"/>
              <a:buNone/>
            </a:pPr>
            <a:r>
              <a:rPr b="0" i="1" lang="en-US" sz="1250" u="none" cap="none" strike="noStrike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For SOC analysts: one incident, with a named cause, from a night of alerts.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896112" y="4855083"/>
            <a:ext cx="6583680" cy="1905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Google Shape;36;p1"/>
          <p:cNvSpPr/>
          <p:nvPr/>
        </p:nvSpPr>
        <p:spPr>
          <a:xfrm>
            <a:off x="896112" y="5084064"/>
            <a:ext cx="128016" cy="128016"/>
          </a:xfrm>
          <a:prstGeom prst="rect">
            <a:avLst/>
          </a:prstGeom>
          <a:solidFill>
            <a:srgbClr val="FF3D1F"/>
          </a:solidFill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"/>
          <p:cNvSpPr txBox="1"/>
          <p:nvPr/>
        </p:nvSpPr>
        <p:spPr>
          <a:xfrm>
            <a:off x="1115568" y="504748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TRACK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 txBox="1"/>
          <p:nvPr/>
        </p:nvSpPr>
        <p:spPr>
          <a:xfrm>
            <a:off x="896112" y="5303520"/>
            <a:ext cx="6583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00"/>
              <a:buFont typeface="Arial Black"/>
              <a:buNone/>
            </a:pPr>
            <a:r>
              <a:rPr b="0" i="0" lang="en-US" sz="1500" u="none" cap="none" strike="noStrike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Cybersecurity — PS2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896112" y="5769483"/>
            <a:ext cx="6583680" cy="1905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Google Shape;40;p1"/>
          <p:cNvSpPr/>
          <p:nvPr/>
        </p:nvSpPr>
        <p:spPr>
          <a:xfrm>
            <a:off x="8138160" y="2907792"/>
            <a:ext cx="3502152" cy="3127248"/>
          </a:xfrm>
          <a:prstGeom prst="rect">
            <a:avLst/>
          </a:prstGeom>
          <a:solidFill>
            <a:srgbClr val="111111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889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"/>
          <p:cNvSpPr txBox="1"/>
          <p:nvPr/>
        </p:nvSpPr>
        <p:spPr>
          <a:xfrm>
            <a:off x="8430768" y="31272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AF4E8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"/>
          <p:cNvSpPr txBox="1"/>
          <p:nvPr/>
        </p:nvSpPr>
        <p:spPr>
          <a:xfrm>
            <a:off x="8430768" y="3346704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1600"/>
              <a:buFont typeface="Arial Black"/>
              <a:buNone/>
            </a:pPr>
            <a:r>
              <a:rPr b="0" i="0" lang="en-US" sz="1600" u="none" cap="none" strike="noStrike">
                <a:solidFill>
                  <a:srgbClr val="FAF4E8"/>
                </a:solidFill>
                <a:latin typeface="Arial Black"/>
                <a:ea typeface="Arial Black"/>
                <a:cs typeface="Arial Black"/>
                <a:sym typeface="Arial Black"/>
              </a:rPr>
              <a:t>Marlloz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1"/>
          <p:cNvSpPr/>
          <p:nvPr/>
        </p:nvSpPr>
        <p:spPr>
          <a:xfrm>
            <a:off x="8430768" y="3812667"/>
            <a:ext cx="2926080" cy="19050"/>
          </a:xfrm>
          <a:prstGeom prst="rect">
            <a:avLst/>
          </a:prstGeom>
          <a:solidFill>
            <a:srgbClr val="FAF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Google Shape;44;p1"/>
          <p:cNvSpPr txBox="1"/>
          <p:nvPr/>
        </p:nvSpPr>
        <p:spPr>
          <a:xfrm>
            <a:off x="8430768" y="3950208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AF4E8"/>
                </a:solidFill>
                <a:latin typeface="Courier New"/>
                <a:ea typeface="Courier New"/>
                <a:cs typeface="Courier New"/>
                <a:sym typeface="Courier New"/>
              </a:rPr>
              <a:t>Shaan GS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1"/>
          <p:cNvSpPr txBox="1"/>
          <p:nvPr/>
        </p:nvSpPr>
        <p:spPr>
          <a:xfrm>
            <a:off x="8430768" y="4251960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AF4E8"/>
                </a:solidFill>
                <a:latin typeface="Courier New"/>
                <a:ea typeface="Courier New"/>
                <a:cs typeface="Courier New"/>
                <a:sym typeface="Courier New"/>
              </a:rPr>
              <a:t>Pradeesh Govindarajan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"/>
          <p:cNvSpPr txBox="1"/>
          <p:nvPr/>
        </p:nvSpPr>
        <p:spPr>
          <a:xfrm>
            <a:off x="8430768" y="4553712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AF4E8"/>
                </a:solidFill>
                <a:latin typeface="Courier New"/>
                <a:ea typeface="Courier New"/>
                <a:cs typeface="Courier New"/>
                <a:sym typeface="Courier New"/>
              </a:rPr>
              <a:t>Shreyas Gopalika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1"/>
          <p:cNvSpPr/>
          <p:nvPr/>
        </p:nvSpPr>
        <p:spPr>
          <a:xfrm>
            <a:off x="8430768" y="5531739"/>
            <a:ext cx="2926080" cy="19050"/>
          </a:xfrm>
          <a:prstGeom prst="rect">
            <a:avLst/>
          </a:prstGeom>
          <a:solidFill>
            <a:srgbClr val="FAF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Google Shape;50;p1"/>
          <p:cNvSpPr txBox="1"/>
          <p:nvPr/>
        </p:nvSpPr>
        <p:spPr>
          <a:xfrm>
            <a:off x="8430768" y="5632704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AF4E8"/>
                </a:solidFill>
                <a:latin typeface="Courier New"/>
                <a:ea typeface="Courier New"/>
                <a:cs typeface="Courier New"/>
                <a:sym typeface="Courier New"/>
              </a:rPr>
              <a:t>full contact sheet → frame 09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"/>
          <p:cNvSpPr txBox="1"/>
          <p:nvPr/>
        </p:nvSpPr>
        <p:spPr>
          <a:xfrm>
            <a:off x="548640" y="6181344"/>
            <a:ext cx="5943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1"/>
          <p:cNvSpPr/>
          <p:nvPr/>
        </p:nvSpPr>
        <p:spPr>
          <a:xfrm>
            <a:off x="548640" y="6441377"/>
            <a:ext cx="11094415" cy="2857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Google Shape;53;p1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01 / 09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b="0" i="0" lang="en-US" sz="1700" u="none" cap="none" strike="noStrike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682244" y="274320"/>
            <a:ext cx="25400" cy="29260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63" name="Google Shape;63;p2"/>
          <p:cNvSpPr/>
          <p:nvPr/>
        </p:nvSpPr>
        <p:spPr>
          <a:xfrm>
            <a:off x="694944" y="407924"/>
            <a:ext cx="146304" cy="25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64" name="Google Shape;64;p2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</a:t>
            </a:r>
            <a:r>
              <a:rPr b="1" lang="en-US" sz="950">
                <a:solidFill>
                  <a:srgbClr val="111111"/>
                </a:solidFill>
              </a:rPr>
              <a:t>- </a:t>
            </a: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548640" y="6441377"/>
            <a:ext cx="11094415" cy="2857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68" name="Google Shape;68;p2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02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PROBLEM DEFINITION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answer in 2–3 lines · readable outside your track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548640" y="1993392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822960" y="2267712"/>
            <a:ext cx="384048" cy="38404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 txBox="1"/>
          <p:nvPr/>
        </p:nvSpPr>
        <p:spPr>
          <a:xfrm>
            <a:off x="822960" y="22768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 txBox="1"/>
          <p:nvPr/>
        </p:nvSpPr>
        <p:spPr>
          <a:xfrm>
            <a:off x="1371600" y="2304288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WHO &amp; HOW OFTEN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 txBox="1"/>
          <p:nvPr/>
        </p:nvSpPr>
        <p:spPr>
          <a:xfrm>
            <a:off x="822960" y="2862072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SOC analysts, every shift. One attacker action fires dozens of correct alerts across endpoint, identity, email, firewall and cloud.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6519672" y="1993392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6793992" y="2267712"/>
            <a:ext cx="384048" cy="384048"/>
          </a:xfrm>
          <a:prstGeom prst="rect">
            <a:avLst/>
          </a:prstGeom>
          <a:solidFill>
            <a:srgbClr val="111111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"/>
          <p:cNvSpPr txBox="1"/>
          <p:nvPr/>
        </p:nvSpPr>
        <p:spPr>
          <a:xfrm>
            <a:off x="6793992" y="22768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 txBox="1"/>
          <p:nvPr/>
        </p:nvSpPr>
        <p:spPr>
          <a:xfrm>
            <a:off x="7342632" y="2304288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TODAY'S WORKAROUND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 txBox="1"/>
          <p:nvPr/>
        </p:nvSpPr>
        <p:spPr>
          <a:xfrm>
            <a:off x="6793992" y="2862072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Analysts pivot between consoles by hand, matching timestamps and identities. Tooling dedups by merging alerts whose text looks alike.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548640" y="4297680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"/>
          <p:cNvSpPr/>
          <p:nvPr/>
        </p:nvSpPr>
        <p:spPr>
          <a:xfrm>
            <a:off x="822960" y="4572000"/>
            <a:ext cx="384048" cy="38404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"/>
          <p:cNvSpPr txBox="1"/>
          <p:nvPr/>
        </p:nvSpPr>
        <p:spPr>
          <a:xfrm>
            <a:off x="822960" y="45811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"/>
          <p:cNvSpPr txBox="1"/>
          <p:nvPr/>
        </p:nvSpPr>
        <p:spPr>
          <a:xfrm>
            <a:off x="1371600" y="4608576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WHY IT FALLS SHORT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"/>
          <p:cNvSpPr txBox="1"/>
          <p:nvPr/>
        </p:nvSpPr>
        <p:spPr>
          <a:xfrm>
            <a:off x="822960" y="5166360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Text-merging destroys evidence: two alerts that read alike can be two attack stages. Broad automation isolates hosts on weak grounds.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"/>
          <p:cNvSpPr/>
          <p:nvPr/>
        </p:nvSpPr>
        <p:spPr>
          <a:xfrm>
            <a:off x="6519672" y="4297680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"/>
          <p:cNvSpPr/>
          <p:nvPr/>
        </p:nvSpPr>
        <p:spPr>
          <a:xfrm>
            <a:off x="6793992" y="4572000"/>
            <a:ext cx="384048" cy="38404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"/>
          <p:cNvSpPr txBox="1"/>
          <p:nvPr/>
        </p:nvSpPr>
        <p:spPr>
          <a:xfrm>
            <a:off x="6793992" y="45811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2"/>
          <p:cNvSpPr txBox="1"/>
          <p:nvPr/>
        </p:nvSpPr>
        <p:spPr>
          <a:xfrm>
            <a:off x="7342632" y="4608576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EVIDENCE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 txBox="1"/>
          <p:nvPr/>
        </p:nvSpPr>
        <p:spPr>
          <a:xfrm>
            <a:off x="6793992" y="5166360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We measured it. On a 938-alert corpus, text dedup buried the successful login that was the root cause and recovered 4 of 9 stages.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682244" y="274320"/>
            <a:ext cx="25400" cy="29260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99" name="Google Shape;99;p3"/>
          <p:cNvSpPr/>
          <p:nvPr/>
        </p:nvSpPr>
        <p:spPr>
          <a:xfrm>
            <a:off x="694944" y="407924"/>
            <a:ext cx="146304" cy="25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" name="Google Shape;100;p3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548640" y="6441377"/>
            <a:ext cx="11094415" cy="2857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" name="Google Shape;104;p3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03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PROPOSED SOLUTION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name it plainly · connect straight back to frame 02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548640" y="2057400"/>
            <a:ext cx="3931920" cy="4041648"/>
          </a:xfrm>
          <a:prstGeom prst="rect">
            <a:avLst/>
          </a:prstGeom>
          <a:solidFill>
            <a:srgbClr val="FF3D1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889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"/>
          <p:cNvSpPr txBox="1"/>
          <p:nvPr/>
        </p:nvSpPr>
        <p:spPr>
          <a:xfrm>
            <a:off x="868680" y="2377440"/>
            <a:ext cx="3291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PRODUCT / SYSTEM NAME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868680" y="2670048"/>
            <a:ext cx="32918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Arial Black"/>
              <a:buNone/>
            </a:pPr>
            <a:r>
              <a:rPr lang="en-US" sz="21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Causeway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868680" y="4059555"/>
            <a:ext cx="3291840" cy="1905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" name="Google Shape;112;p3"/>
          <p:cNvSpPr txBox="1"/>
          <p:nvPr/>
        </p:nvSpPr>
        <p:spPr>
          <a:xfrm>
            <a:off x="868680" y="4251960"/>
            <a:ext cx="3291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362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3A362E"/>
                </a:solidFill>
                <a:latin typeface="Arial"/>
                <a:ea typeface="Arial"/>
                <a:cs typeface="Arial"/>
                <a:sym typeface="Arial"/>
              </a:rPr>
              <a:t>Rebuilds the causal incident behind scattered alerts, ranks what to contain, and gates every response on the evidence for it.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868680" y="5532120"/>
            <a:ext cx="384048" cy="38404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"/>
          <p:cNvSpPr/>
          <p:nvPr/>
        </p:nvSpPr>
        <p:spPr>
          <a:xfrm>
            <a:off x="1048004" y="5532120"/>
            <a:ext cx="25400" cy="38404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" name="Google Shape;115;p3"/>
          <p:cNvSpPr/>
          <p:nvPr/>
        </p:nvSpPr>
        <p:spPr>
          <a:xfrm>
            <a:off x="1060704" y="5711444"/>
            <a:ext cx="192024" cy="25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" name="Google Shape;116;p3"/>
          <p:cNvSpPr/>
          <p:nvPr/>
        </p:nvSpPr>
        <p:spPr>
          <a:xfrm>
            <a:off x="4892040" y="2057400"/>
            <a:ext cx="6748272" cy="12344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5148072" y="2295144"/>
            <a:ext cx="365760" cy="365760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"/>
          <p:cNvSpPr txBox="1"/>
          <p:nvPr/>
        </p:nvSpPr>
        <p:spPr>
          <a:xfrm>
            <a:off x="5148072" y="230428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5669280" y="2313432"/>
            <a:ext cx="57424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WHAT A USER DOES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5669280" y="2715768"/>
            <a:ext cx="5696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Open one case instead of hundreds: a causal graph, the ranked root cause, and a recommended action that shows its reasoning.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4892040" y="3465576"/>
            <a:ext cx="6748272" cy="12344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5148072" y="3703320"/>
            <a:ext cx="365760" cy="365760"/>
          </a:xfrm>
          <a:prstGeom prst="rect">
            <a:avLst/>
          </a:prstGeom>
          <a:solidFill>
            <a:srgbClr val="111111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"/>
          <p:cNvSpPr txBox="1"/>
          <p:nvPr/>
        </p:nvSpPr>
        <p:spPr>
          <a:xfrm>
            <a:off x="5148072" y="371246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5669280" y="3721608"/>
            <a:ext cx="57424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WHY IT BEATS THE WORKAROUND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5669280" y="4123944"/>
            <a:ext cx="5696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938 alerts became 17 cases. All nine stages in one incident, recall 1.00, root cause correct. Nothing is deleted.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4892040" y="4873752"/>
            <a:ext cx="6748272" cy="12344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"/>
          <p:cNvSpPr/>
          <p:nvPr/>
        </p:nvSpPr>
        <p:spPr>
          <a:xfrm>
            <a:off x="5148072" y="5111496"/>
            <a:ext cx="365760" cy="365760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5148072" y="51206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5669280" y="5129784"/>
            <a:ext cx="57424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WHAT'S GENUINELY DIFFERENT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5669280" y="5532120"/>
            <a:ext cx="5696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We rank entities, not alerts — nobody contains a row. Confidence stays separate from what the evidence may authorise.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682244" y="274320"/>
            <a:ext cx="25400" cy="29260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" name="Google Shape;138;p4"/>
          <p:cNvSpPr/>
          <p:nvPr/>
        </p:nvSpPr>
        <p:spPr>
          <a:xfrm>
            <a:off x="694944" y="407924"/>
            <a:ext cx="146304" cy="25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" name="Google Shape;139;p4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548640" y="6441377"/>
            <a:ext cx="11094415" cy="2857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" name="Google Shape;143;p4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04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SYSTEM ARCHITECTURE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walk the full flow · name real services &amp; models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548640" y="1993392"/>
            <a:ext cx="11091672" cy="1810512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889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"/>
          <p:cNvSpPr txBox="1"/>
          <p:nvPr/>
        </p:nvSpPr>
        <p:spPr>
          <a:xfrm>
            <a:off x="841248" y="21945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FIG. 04-A — SYSTEM FLOW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1421892" y="2542032"/>
            <a:ext cx="1371600" cy="56692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08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"/>
          <p:cNvSpPr txBox="1"/>
          <p:nvPr/>
        </p:nvSpPr>
        <p:spPr>
          <a:xfrm>
            <a:off x="1421892" y="2542032"/>
            <a:ext cx="1371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Arial Black"/>
              <a:buNone/>
            </a:pPr>
            <a:r>
              <a:rPr lang="en-US" sz="9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ALERTS IN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2848356" y="2809621"/>
            <a:ext cx="237744" cy="3175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" name="Google Shape;152;p4"/>
          <p:cNvSpPr/>
          <p:nvPr/>
        </p:nvSpPr>
        <p:spPr>
          <a:xfrm>
            <a:off x="3140964" y="2542032"/>
            <a:ext cx="1417320" cy="566928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08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"/>
          <p:cNvSpPr txBox="1"/>
          <p:nvPr/>
        </p:nvSpPr>
        <p:spPr>
          <a:xfrm>
            <a:off x="3140964" y="2542032"/>
            <a:ext cx="1417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Arial Black"/>
              <a:buNone/>
            </a:pPr>
            <a:r>
              <a:rPr lang="en-US" sz="9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RESOLVE + DEDUP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4613148" y="2809621"/>
            <a:ext cx="237744" cy="3175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" name="Google Shape;155;p4"/>
          <p:cNvSpPr/>
          <p:nvPr/>
        </p:nvSpPr>
        <p:spPr>
          <a:xfrm>
            <a:off x="4905756" y="2542032"/>
            <a:ext cx="1783080" cy="566928"/>
          </a:xfrm>
          <a:prstGeom prst="rect">
            <a:avLst/>
          </a:prstGeom>
          <a:solidFill>
            <a:srgbClr val="111111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08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4"/>
          <p:cNvSpPr txBox="1"/>
          <p:nvPr/>
        </p:nvSpPr>
        <p:spPr>
          <a:xfrm>
            <a:off x="4905756" y="2542032"/>
            <a:ext cx="1783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 Black"/>
              <a:buNone/>
            </a:pPr>
            <a:r>
              <a:rPr lang="en-US" sz="9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CAUSAL EDGES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6743700" y="2809621"/>
            <a:ext cx="237744" cy="3175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8" name="Google Shape;158;p4"/>
          <p:cNvSpPr/>
          <p:nvPr/>
        </p:nvSpPr>
        <p:spPr>
          <a:xfrm>
            <a:off x="7036308" y="2542032"/>
            <a:ext cx="2331720" cy="56692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08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"/>
          <p:cNvSpPr txBox="1"/>
          <p:nvPr/>
        </p:nvSpPr>
        <p:spPr>
          <a:xfrm>
            <a:off x="7036308" y="2542032"/>
            <a:ext cx="2331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Arial Black"/>
              <a:buNone/>
            </a:pPr>
            <a:r>
              <a:rPr lang="en-US" sz="9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EVIDENCE GATE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9422892" y="2809621"/>
            <a:ext cx="237744" cy="3175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61" name="Google Shape;161;p4"/>
          <p:cNvSpPr/>
          <p:nvPr/>
        </p:nvSpPr>
        <p:spPr>
          <a:xfrm>
            <a:off x="9715500" y="2542032"/>
            <a:ext cx="1051560" cy="56692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08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4"/>
          <p:cNvSpPr txBox="1"/>
          <p:nvPr/>
        </p:nvSpPr>
        <p:spPr>
          <a:xfrm>
            <a:off x="9715500" y="2542032"/>
            <a:ext cx="1051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Arial Black"/>
              <a:buNone/>
            </a:pPr>
            <a:r>
              <a:rPr lang="en-US" sz="9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CASE + ACTION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 txBox="1"/>
          <p:nvPr/>
        </p:nvSpPr>
        <p:spPr>
          <a:xfrm>
            <a:off x="548640" y="3364992"/>
            <a:ext cx="110916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any product → canonical entities → causal DAG → evidence-gated response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548640" y="4187952"/>
            <a:ext cx="3575304" cy="19202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4"/>
          <p:cNvSpPr/>
          <p:nvPr/>
        </p:nvSpPr>
        <p:spPr>
          <a:xfrm>
            <a:off x="804672" y="4425696"/>
            <a:ext cx="365760" cy="365760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4"/>
          <p:cNvSpPr txBox="1"/>
          <p:nvPr/>
        </p:nvSpPr>
        <p:spPr>
          <a:xfrm>
            <a:off x="804672" y="44348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 txBox="1"/>
          <p:nvPr/>
        </p:nvSpPr>
        <p:spPr>
          <a:xfrm>
            <a:off x="1298448" y="4407408"/>
            <a:ext cx="26151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KEY TECHNICAL DECISION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 txBox="1"/>
          <p:nvPr/>
        </p:nvSpPr>
        <p:spPr>
          <a:xfrm>
            <a:off x="804672" y="4992624"/>
            <a:ext cx="3063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No model, no network call in the decision path. Deterministic rules, ~42 ms per run, every refusal explainable in one sentence.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4306824" y="4187952"/>
            <a:ext cx="3575304" cy="19202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4562856" y="4425696"/>
            <a:ext cx="365760" cy="365760"/>
          </a:xfrm>
          <a:prstGeom prst="rect">
            <a:avLst/>
          </a:prstGeom>
          <a:solidFill>
            <a:srgbClr val="111111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4"/>
          <p:cNvSpPr txBox="1"/>
          <p:nvPr/>
        </p:nvSpPr>
        <p:spPr>
          <a:xfrm>
            <a:off x="4562856" y="44348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 txBox="1"/>
          <p:nvPr/>
        </p:nvSpPr>
        <p:spPr>
          <a:xfrm>
            <a:off x="5056632" y="4407408"/>
            <a:ext cx="26151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HARDEST PART TO BUILD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 txBox="1"/>
          <p:nvPr/>
        </p:nvSpPr>
        <p:spPr>
          <a:xfrm>
            <a:off x="4562856" y="4992624"/>
            <a:ext cx="3063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Stopping the benign estate collapsing into one incident. Fixed by weighting entities by rarity, so hub entities link nothing.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8065008" y="4187952"/>
            <a:ext cx="3575304" cy="19202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4"/>
          <p:cNvSpPr/>
          <p:nvPr/>
        </p:nvSpPr>
        <p:spPr>
          <a:xfrm>
            <a:off x="8321040" y="4425696"/>
            <a:ext cx="365760" cy="365760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4"/>
          <p:cNvSpPr txBox="1"/>
          <p:nvPr/>
        </p:nvSpPr>
        <p:spPr>
          <a:xfrm>
            <a:off x="8321040" y="44348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4"/>
          <p:cNvSpPr txBox="1"/>
          <p:nvPr/>
        </p:nvSpPr>
        <p:spPr>
          <a:xfrm>
            <a:off x="8814816" y="4407408"/>
            <a:ext cx="26151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HOW YOU KNOW IT WORKS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 txBox="1"/>
          <p:nvPr/>
        </p:nvSpPr>
        <p:spPr>
          <a:xfrm>
            <a:off x="8321040" y="4992624"/>
            <a:ext cx="3063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27 tests, four configurations. With rarity weighting off precision collapses to 0.13 — the control that proves the design works.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5"/>
          <p:cNvSpPr/>
          <p:nvPr/>
        </p:nvSpPr>
        <p:spPr>
          <a:xfrm>
            <a:off x="682244" y="274320"/>
            <a:ext cx="25400" cy="29260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86" name="Google Shape;186;p5"/>
          <p:cNvSpPr/>
          <p:nvPr/>
        </p:nvSpPr>
        <p:spPr>
          <a:xfrm>
            <a:off x="694944" y="407924"/>
            <a:ext cx="146304" cy="25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87" name="Google Shape;187;p5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5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05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548640" y="6441377"/>
            <a:ext cx="11094415" cy="2857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91" name="Google Shape;191;p5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05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FEASIBILITY &amp; SCOPE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a working slice with a known limit beats an over-promised demo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548640" y="1993392"/>
            <a:ext cx="5468112" cy="1975104"/>
          </a:xfrm>
          <a:prstGeom prst="rect">
            <a:avLst/>
          </a:prstGeom>
          <a:solidFill>
            <a:srgbClr val="FF3D1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5"/>
          <p:cNvSpPr/>
          <p:nvPr/>
        </p:nvSpPr>
        <p:spPr>
          <a:xfrm>
            <a:off x="822960" y="2267712"/>
            <a:ext cx="384048" cy="384048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5"/>
          <p:cNvSpPr txBox="1"/>
          <p:nvPr/>
        </p:nvSpPr>
        <p:spPr>
          <a:xfrm>
            <a:off x="822960" y="22768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 txBox="1"/>
          <p:nvPr/>
        </p:nvSpPr>
        <p:spPr>
          <a:xfrm>
            <a:off x="1371600" y="2304288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SCOPE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 txBox="1"/>
          <p:nvPr/>
        </p:nvSpPr>
        <p:spPr>
          <a:xfrm>
            <a:off x="822960" y="2889504"/>
            <a:ext cx="4919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In:  </a:t>
            </a:r>
            <a:r>
              <a:rPr i="1" lang="en-US" sz="1150">
                <a:solidFill>
                  <a:srgbClr val="3A362E"/>
                </a:solidFill>
                <a:latin typeface="Arial"/>
                <a:ea typeface="Arial"/>
                <a:cs typeface="Arial"/>
                <a:sym typeface="Arial"/>
              </a:rPr>
              <a:t>correlation, entity resolution, reversible dedup, root cause, gated response, console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 txBox="1"/>
          <p:nvPr/>
        </p:nvSpPr>
        <p:spPr>
          <a:xfrm>
            <a:off x="822960" y="3291840"/>
            <a:ext cx="4919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Out:  </a:t>
            </a:r>
            <a:r>
              <a:rPr i="1" lang="en-US" sz="1150">
                <a:solidFill>
                  <a:srgbClr val="3A362E"/>
                </a:solidFill>
                <a:latin typeface="Arial"/>
                <a:ea typeface="Arial"/>
                <a:cs typeface="Arial"/>
                <a:sym typeface="Arial"/>
              </a:rPr>
              <a:t>we recommend actions, never execute them; no live connectors, no ML model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6519672" y="1993392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5"/>
          <p:cNvSpPr/>
          <p:nvPr/>
        </p:nvSpPr>
        <p:spPr>
          <a:xfrm>
            <a:off x="6793992" y="2267712"/>
            <a:ext cx="384048" cy="384048"/>
          </a:xfrm>
          <a:prstGeom prst="rect">
            <a:avLst/>
          </a:prstGeom>
          <a:solidFill>
            <a:srgbClr val="111111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5"/>
          <p:cNvSpPr txBox="1"/>
          <p:nvPr/>
        </p:nvSpPr>
        <p:spPr>
          <a:xfrm>
            <a:off x="6793992" y="22768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 txBox="1"/>
          <p:nvPr/>
        </p:nvSpPr>
        <p:spPr>
          <a:xfrm>
            <a:off x="7342632" y="2304288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RUNNING COST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 txBox="1"/>
          <p:nvPr/>
        </p:nvSpPr>
        <p:spPr>
          <a:xfrm>
            <a:off x="6793992" y="2862072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Effectively zero. Pure Python, no model calls, no external API. 938 alerts in ~42 ms, and it runs fully on-premise.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548640" y="4297680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5"/>
          <p:cNvSpPr/>
          <p:nvPr/>
        </p:nvSpPr>
        <p:spPr>
          <a:xfrm>
            <a:off x="822960" y="4572000"/>
            <a:ext cx="384048" cy="38404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5"/>
          <p:cNvSpPr txBox="1"/>
          <p:nvPr/>
        </p:nvSpPr>
        <p:spPr>
          <a:xfrm>
            <a:off x="822960" y="45811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 txBox="1"/>
          <p:nvPr/>
        </p:nvSpPr>
        <p:spPr>
          <a:xfrm>
            <a:off x="1371600" y="4608576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RISKS &amp; FALLBACK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 txBox="1"/>
          <p:nvPr/>
        </p:nvSpPr>
        <p:spPr>
          <a:xfrm>
            <a:off x="822960" y="5166360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Precision on real telemetry. We tested on the public AIT corpus: dedup transferred, correlation did not. Reported, not hidden.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6519672" y="4297680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5"/>
          <p:cNvSpPr/>
          <p:nvPr/>
        </p:nvSpPr>
        <p:spPr>
          <a:xfrm>
            <a:off x="6793992" y="4572000"/>
            <a:ext cx="384048" cy="38404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5"/>
          <p:cNvSpPr txBox="1"/>
          <p:nvPr/>
        </p:nvSpPr>
        <p:spPr>
          <a:xfrm>
            <a:off x="6793992" y="45811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 txBox="1"/>
          <p:nvPr/>
        </p:nvSpPr>
        <p:spPr>
          <a:xfrm>
            <a:off x="7342632" y="4608576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AFTER THE HACKATHON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5"/>
          <p:cNvSpPr txBox="1"/>
          <p:nvPr/>
        </p:nvSpPr>
        <p:spPr>
          <a:xfrm>
            <a:off x="6793992" y="5166360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Learn entity rarity from an environment's own baseline, then add live connectors.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6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FAF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6"/>
          <p:cNvSpPr/>
          <p:nvPr/>
        </p:nvSpPr>
        <p:spPr>
          <a:xfrm>
            <a:off x="682244" y="274320"/>
            <a:ext cx="25400" cy="292608"/>
          </a:xfrm>
          <a:prstGeom prst="rect">
            <a:avLst/>
          </a:prstGeom>
          <a:solidFill>
            <a:srgbClr val="FAF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223" name="Google Shape;223;p6"/>
          <p:cNvSpPr/>
          <p:nvPr/>
        </p:nvSpPr>
        <p:spPr>
          <a:xfrm>
            <a:off x="694944" y="407924"/>
            <a:ext cx="146304" cy="25400"/>
          </a:xfrm>
          <a:prstGeom prst="rect">
            <a:avLst/>
          </a:prstGeom>
          <a:solidFill>
            <a:srgbClr val="FAF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224" name="Google Shape;224;p6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FAF4E8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6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06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548640" y="6441377"/>
            <a:ext cx="11094415" cy="28575"/>
          </a:xfrm>
          <a:prstGeom prst="rect">
            <a:avLst/>
          </a:prstGeom>
          <a:solidFill>
            <a:srgbClr val="FAF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228" name="Google Shape;228;p6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4B6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C9C4B6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9C4B6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C9C4B6"/>
                </a:solidFill>
                <a:latin typeface="Courier New"/>
                <a:ea typeface="Courier New"/>
                <a:cs typeface="Courier New"/>
                <a:sym typeface="Courier New"/>
              </a:rPr>
              <a:t>FRAME 06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FAF4E8"/>
                </a:solidFill>
                <a:latin typeface="Arial Black"/>
                <a:ea typeface="Arial Black"/>
                <a:cs typeface="Arial Black"/>
                <a:sym typeface="Arial Black"/>
              </a:rPr>
              <a:t>IMPACT METRICS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4B6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C9C4B6"/>
                </a:solidFill>
                <a:latin typeface="Courier New"/>
                <a:ea typeface="Courier New"/>
                <a:cs typeface="Courier New"/>
                <a:sym typeface="Courier New"/>
              </a:rPr>
              <a:t>show how the figure was measured, an estimate is fine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 txBox="1"/>
          <p:nvPr/>
        </p:nvSpPr>
        <p:spPr>
          <a:xfrm>
            <a:off x="502920" y="2057400"/>
            <a:ext cx="6400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D1F"/>
              </a:buClr>
              <a:buSzPts val="9200"/>
              <a:buFont typeface="Arial Black"/>
              <a:buNone/>
            </a:pPr>
            <a:r>
              <a:rPr lang="en-US" sz="9200">
                <a:solidFill>
                  <a:srgbClr val="FF3D1F"/>
                </a:solidFill>
                <a:latin typeface="Arial Black"/>
                <a:ea typeface="Arial Black"/>
                <a:cs typeface="Arial Black"/>
                <a:sym typeface="Arial Black"/>
              </a:rPr>
              <a:t>98%</a:t>
            </a:r>
            <a:endParaRPr sz="9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 txBox="1"/>
          <p:nvPr/>
        </p:nvSpPr>
        <p:spPr>
          <a:xfrm>
            <a:off x="566928" y="3822192"/>
            <a:ext cx="6035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4B6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C9C4B6"/>
                </a:solidFill>
                <a:latin typeface="Courier New"/>
                <a:ea typeface="Courier New"/>
                <a:cs typeface="Courier New"/>
                <a:sym typeface="Courier New"/>
              </a:rPr>
              <a:t>fewer queue items — 938 alerts became 17 cases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548640" y="4370832"/>
            <a:ext cx="6172200" cy="1664208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889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6"/>
          <p:cNvSpPr txBox="1"/>
          <p:nvPr/>
        </p:nvSpPr>
        <p:spPr>
          <a:xfrm>
            <a:off x="868680" y="4645152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HOW IT WAS MEASURED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 txBox="1"/>
          <p:nvPr/>
        </p:nvSpPr>
        <p:spPr>
          <a:xfrm>
            <a:off x="868680" y="4937760"/>
            <a:ext cx="5532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200"/>
              <a:buFont typeface="Arial"/>
              <a:buNone/>
            </a:pPr>
            <a:r>
              <a:rPr i="1" lang="en-US" sz="12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938-alert corpus, labelled 9-stage intrusion. Cases = 17. Recall 1.00 and zero evidence-erasing suppressions.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7269480" y="1298448"/>
            <a:ext cx="4370832" cy="115214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6"/>
          <p:cNvSpPr/>
          <p:nvPr/>
        </p:nvSpPr>
        <p:spPr>
          <a:xfrm>
            <a:off x="7488936" y="1499616"/>
            <a:ext cx="347472" cy="34747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6"/>
          <p:cNvSpPr txBox="1"/>
          <p:nvPr/>
        </p:nvSpPr>
        <p:spPr>
          <a:xfrm>
            <a:off x="7488936" y="150876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 txBox="1"/>
          <p:nvPr/>
        </p:nvSpPr>
        <p:spPr>
          <a:xfrm>
            <a:off x="7964424" y="1463040"/>
            <a:ext cx="3456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WHAT MEASURABLY IMPROVES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 txBox="1"/>
          <p:nvPr/>
        </p:nvSpPr>
        <p:spPr>
          <a:xfrm>
            <a:off x="7488936" y="1993392"/>
            <a:ext cx="3931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Analysts open 17 cases, not 938 rows, with the root cause named.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7269480" y="2569464"/>
            <a:ext cx="4370832" cy="115214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6"/>
          <p:cNvSpPr/>
          <p:nvPr/>
        </p:nvSpPr>
        <p:spPr>
          <a:xfrm>
            <a:off x="7488936" y="2770632"/>
            <a:ext cx="347472" cy="347472"/>
          </a:xfrm>
          <a:prstGeom prst="rect">
            <a:avLst/>
          </a:prstGeom>
          <a:solidFill>
            <a:srgbClr val="111111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6"/>
          <p:cNvSpPr txBox="1"/>
          <p:nvPr/>
        </p:nvSpPr>
        <p:spPr>
          <a:xfrm>
            <a:off x="7488936" y="277977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 txBox="1"/>
          <p:nvPr/>
        </p:nvSpPr>
        <p:spPr>
          <a:xfrm>
            <a:off x="7964424" y="2734056"/>
            <a:ext cx="3456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WHO ELSE COULD USE IT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 txBox="1"/>
          <p:nvPr/>
        </p:nvSpPr>
        <p:spPr>
          <a:xfrm>
            <a:off x="7488936" y="3264408"/>
            <a:ext cx="3931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MSSPs, cloud-security teams, and regulated environments needing an audit trail.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7269480" y="3840480"/>
            <a:ext cx="4370832" cy="115214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6"/>
          <p:cNvSpPr/>
          <p:nvPr/>
        </p:nvSpPr>
        <p:spPr>
          <a:xfrm>
            <a:off x="7488936" y="4041648"/>
            <a:ext cx="347472" cy="34747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6"/>
          <p:cNvSpPr txBox="1"/>
          <p:nvPr/>
        </p:nvSpPr>
        <p:spPr>
          <a:xfrm>
            <a:off x="7488936" y="405079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 txBox="1"/>
          <p:nvPr/>
        </p:nvSpPr>
        <p:spPr>
          <a:xfrm>
            <a:off x="7964424" y="4005072"/>
            <a:ext cx="3456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WHAT COULD GO WRONG / BE MISUSED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6"/>
          <p:cNvSpPr txBox="1"/>
          <p:nvPr/>
        </p:nvSpPr>
        <p:spPr>
          <a:xfrm>
            <a:off x="7488936" y="4535424"/>
            <a:ext cx="3931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Over-trust: a confident graph could persuade an analyst to skip verification.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6"/>
          <p:cNvSpPr/>
          <p:nvPr/>
        </p:nvSpPr>
        <p:spPr>
          <a:xfrm>
            <a:off x="7269480" y="5111496"/>
            <a:ext cx="4370832" cy="115214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6"/>
          <p:cNvSpPr/>
          <p:nvPr/>
        </p:nvSpPr>
        <p:spPr>
          <a:xfrm>
            <a:off x="7488936" y="5312664"/>
            <a:ext cx="347472" cy="34747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6"/>
          <p:cNvSpPr txBox="1"/>
          <p:nvPr/>
        </p:nvSpPr>
        <p:spPr>
          <a:xfrm>
            <a:off x="7488936" y="532180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6"/>
          <p:cNvSpPr txBox="1"/>
          <p:nvPr/>
        </p:nvSpPr>
        <p:spPr>
          <a:xfrm>
            <a:off x="7964424" y="5276088"/>
            <a:ext cx="3456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HOW YOU'D HANDLE THAT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6"/>
          <p:cNvSpPr txBox="1"/>
          <p:nvPr/>
        </p:nvSpPr>
        <p:spPr>
          <a:xfrm>
            <a:off x="7488936" y="5806440"/>
            <a:ext cx="3931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Nothing is deleted; every suppression is reversible. Destructive actions need a human.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7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7"/>
          <p:cNvSpPr/>
          <p:nvPr/>
        </p:nvSpPr>
        <p:spPr>
          <a:xfrm>
            <a:off x="682244" y="274320"/>
            <a:ext cx="25400" cy="29260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264" name="Google Shape;264;p7"/>
          <p:cNvSpPr/>
          <p:nvPr/>
        </p:nvSpPr>
        <p:spPr>
          <a:xfrm>
            <a:off x="694944" y="407924"/>
            <a:ext cx="146304" cy="25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265" name="Google Shape;265;p7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7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07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548640" y="6441377"/>
            <a:ext cx="11094415" cy="2857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269" name="Google Shape;269;p7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07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REFERENCES &amp; ATTRIBUTION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one source per line · uncredited work is disqualifying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 txBox="1"/>
          <p:nvPr/>
        </p:nvSpPr>
        <p:spPr>
          <a:xfrm>
            <a:off x="548640" y="214884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TABLE 07-A — SOURCES &amp; LICENCES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630936" y="2478024"/>
            <a:ext cx="11091672" cy="334670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75" name="Google Shape;275;p7"/>
          <p:cNvGraphicFramePr/>
          <p:nvPr/>
        </p:nvGraphicFramePr>
        <p:xfrm>
          <a:off x="548640" y="23957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{D47496C2-0CEE-4B0A-BE6E-AE1266184CF1}</a:tableStyleId>
              </a:tblPr>
              <a:tblGrid>
                <a:gridCol w="1554475"/>
                <a:gridCol w="3291850"/>
                <a:gridCol w="2651750"/>
                <a:gridCol w="2103125"/>
                <a:gridCol w="1490475"/>
              </a:tblGrid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TYPE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SOURCE (AUTHOR, TITLE, YEAR)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WHAT IT GAVE YOU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BORROWED / YOURS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LICENCE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</a:tr>
              <a:tr h="58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000"/>
                        <a:buFont typeface="Arial Black"/>
                        <a:buNone/>
                      </a:pPr>
                      <a:r>
                        <a:rPr lang="en-US" sz="1000" u="none" cap="none" strike="noStrike">
                          <a:solidFill>
                            <a:srgbClr val="111111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Paper</a:t>
                      </a:r>
                      <a:endParaRPr sz="10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Landauer et al., “A New Alert Data Set for Multi-Step Attack Analysis”, CSET ’24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Alert-level corpus design; multi-step framing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borrowed — cited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ACM, cited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000"/>
                        <a:buFont typeface="Arial Black"/>
                        <a:buNone/>
                      </a:pPr>
                      <a:r>
                        <a:rPr lang="en-US" sz="1000" u="none" cap="none" strike="noStrike">
                          <a:solidFill>
                            <a:srgbClr val="111111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Repository</a:t>
                      </a:r>
                      <a:endParaRPr sz="10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Ventriloquist — our own EDGE NOVA’26 provenance gateway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Lineage closure, blast radius, audit chain, policy engine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yours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own work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000"/>
                        <a:buFont typeface="Arial Black"/>
                        <a:buNone/>
                      </a:pPr>
                      <a:r>
                        <a:rPr lang="en-US" sz="1000" u="none" cap="none" strike="noStrike">
                          <a:solidFill>
                            <a:srgbClr val="111111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Documentation</a:t>
                      </a:r>
                      <a:endParaRPr sz="10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FastAPI · Starlette · Uvicorn · PyYAML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HTTP surface and YAML policy loading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borrowed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MIT / BSD-3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000"/>
                        <a:buFont typeface="Arial Black"/>
                        <a:buNone/>
                      </a:pPr>
                      <a:r>
                        <a:rPr lang="en-US" sz="1000" u="none" cap="none" strike="noStrike">
                          <a:solidFill>
                            <a:srgbClr val="111111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Dataset</a:t>
                      </a:r>
                      <a:endParaRPr sz="10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AIT Alert Data Set — doi 10.5281/zenodo.8263181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45,544 real labelled alerts, 3 detectors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borrowed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CC-BY-4.0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000"/>
                        <a:buFont typeface="Arial Black"/>
                        <a:buNone/>
                      </a:pPr>
                      <a:r>
                        <a:rPr lang="en-US" sz="1000" u="none" cap="none" strike="noStrike">
                          <a:solidFill>
                            <a:srgbClr val="111111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Model weights</a:t>
                      </a:r>
                      <a:endParaRPr sz="10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None — no ML model or pretrained weights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Correlation is deterministic; no inference step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n/a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n/a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8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8"/>
          <p:cNvSpPr/>
          <p:nvPr/>
        </p:nvSpPr>
        <p:spPr>
          <a:xfrm>
            <a:off x="682244" y="274320"/>
            <a:ext cx="25400" cy="29260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283" name="Google Shape;283;p8"/>
          <p:cNvSpPr/>
          <p:nvPr/>
        </p:nvSpPr>
        <p:spPr>
          <a:xfrm>
            <a:off x="694944" y="407924"/>
            <a:ext cx="146304" cy="25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284" name="Google Shape;284;p8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8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08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548640" y="6441377"/>
            <a:ext cx="11094415" cy="2857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288" name="Google Shape;288;p8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08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THE CONSOLE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548640" y="1920240"/>
            <a:ext cx="11091672" cy="42062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1016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8"/>
          <p:cNvSpPr txBox="1"/>
          <p:nvPr/>
        </p:nvSpPr>
        <p:spPr>
          <a:xfrm>
            <a:off x="868680" y="2194560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One reconstructed incident: 938 alerts in, ranked root cause, gated response.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868680" y="5532120"/>
            <a:ext cx="384048" cy="38404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8"/>
          <p:cNvSpPr/>
          <p:nvPr/>
        </p:nvSpPr>
        <p:spPr>
          <a:xfrm>
            <a:off x="1048004" y="5532120"/>
            <a:ext cx="25400" cy="38404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295" name="Google Shape;295;p8"/>
          <p:cNvSpPr/>
          <p:nvPr/>
        </p:nvSpPr>
        <p:spPr>
          <a:xfrm>
            <a:off x="1060704" y="5711444"/>
            <a:ext cx="192024" cy="25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pic>
        <p:nvPicPr>
          <p:cNvPr id="296" name="Picture 295" descr="causal-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888" y="2651760"/>
            <a:ext cx="9418320" cy="33467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9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9"/>
          <p:cNvSpPr/>
          <p:nvPr/>
        </p:nvSpPr>
        <p:spPr>
          <a:xfrm>
            <a:off x="682244" y="274320"/>
            <a:ext cx="25400" cy="29260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305" name="Google Shape;305;p9"/>
          <p:cNvSpPr/>
          <p:nvPr/>
        </p:nvSpPr>
        <p:spPr>
          <a:xfrm>
            <a:off x="694944" y="407924"/>
            <a:ext cx="146304" cy="25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306" name="Google Shape;306;p9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9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09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548640" y="6441377"/>
            <a:ext cx="11094415" cy="2857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310" name="Google Shape;310;p9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09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TEAM &amp; CONTACT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one line per member · so organisers can reach you after submission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 txBox="1"/>
          <p:nvPr/>
        </p:nvSpPr>
        <p:spPr>
          <a:xfrm>
            <a:off x="548640" y="1883664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Marlloz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 txBox="1"/>
          <p:nvPr/>
        </p:nvSpPr>
        <p:spPr>
          <a:xfrm>
            <a:off x="548640" y="2340864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TABLE 09-A — TEAM CONTACT SHEET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630936" y="2679192"/>
            <a:ext cx="11091672" cy="2194579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17" name="Google Shape;317;p9"/>
          <p:cNvGraphicFramePr/>
          <p:nvPr/>
        </p:nvGraphicFramePr>
        <p:xfrm>
          <a:off x="548640" y="25968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{D47496C2-0CEE-4B0A-BE6E-AE1266184CF1}</a:tableStyleId>
              </a:tblPr>
              <a:tblGrid>
                <a:gridCol w="2926075"/>
                <a:gridCol w="2743200"/>
                <a:gridCol w="5422400"/>
              </a:tblGrid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NAME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PHONE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EMAIL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Arial Black"/>
                        <a:buNone/>
                      </a:pPr>
                      <a:r>
                        <a:rPr lang="en-US" sz="1100" u="none" cap="none" strike="noStrike">
                          <a:solidFill>
                            <a:srgbClr val="111111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Shaan GS</a:t>
                      </a:r>
                      <a:endParaRPr sz="11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9042769952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shaangurushankar@gmail.com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Arial Black"/>
                        <a:buNone/>
                      </a:pPr>
                      <a:r>
                        <a:rPr lang="en-US" sz="1100" u="none" cap="none" strike="noStrike">
                          <a:solidFill>
                            <a:srgbClr val="111111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Pradeesh Govindarajan</a:t>
                      </a:r>
                      <a:endParaRPr sz="11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+91 93449 11072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pradeeshgovi@gmail.com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Arial Black"/>
                        <a:buNone/>
                      </a:pPr>
                      <a:r>
                        <a:rPr lang="en-US" sz="1100" u="none" cap="none" strike="noStrike">
                          <a:solidFill>
                            <a:srgbClr val="111111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Shreyas Gopalika</a:t>
                      </a:r>
                      <a:endParaRPr sz="11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+91 91 22 0444 45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sg8268@srmist.edu.in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8" name="Google Shape;318;p9"/>
          <p:cNvSpPr txBox="1"/>
          <p:nvPr/>
        </p:nvSpPr>
        <p:spPr>
          <a:xfrm>
            <a:off x="548640" y="5943600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10972800" y="5870448"/>
            <a:ext cx="365760" cy="365760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9"/>
          <p:cNvSpPr/>
          <p:nvPr/>
        </p:nvSpPr>
        <p:spPr>
          <a:xfrm>
            <a:off x="11142980" y="5870448"/>
            <a:ext cx="25400" cy="3657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321" name="Google Shape;321;p9"/>
          <p:cNvSpPr/>
          <p:nvPr/>
        </p:nvSpPr>
        <p:spPr>
          <a:xfrm>
            <a:off x="11155680" y="6040628"/>
            <a:ext cx="182880" cy="25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2026-08-26T12:08:21Z</dcterms:created>
  <dc:creator>PptxGenJS</dc:creator>
</cp:coreProperties>
</file>