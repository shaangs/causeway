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comments/comment1.xml" ContentType="application/vnd.openxmlformats-officedocument.presentationml.comment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y="6858000" cx="12192000"/>
  <p:notesSz cx="6858000" cy="12192000"/>
  <p:embeddedFontLst>
    <p:embeddedFont>
      <p:font typeface="Arial Black"/>
      <p:regular r:id="rId1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7" roundtripDataSignature="AMtx7mjmTIDMTlOXkhW/XgO8rYQcdrsy0g==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Author clrIdx="0" id="0" initials="" lastIdx="1" name="MIC"/>
</p:cmAuthorLst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47496C2-0CEE-4B0A-BE6E-AE1266184CF1}">
  <a:tblStyle styleId="{D47496C2-0CEE-4B0A-BE6E-AE1266184CF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commentAuthors" Target="commentAuthor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font" Target="fonts/ArialBlack-regular.fntdata"/><Relationship Id="rId17" Type="http://customschemas.google.com/relationships/presentationmetadata" Target="metadata"/></Relationships>
</file>

<file path=ppt/comments/comment1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1" dt="2026-08-26T12:34:01.183">
    <p:pos x="6000" y="0"/>
    <p:text>&gt;&gt;Click on File 
&gt;&gt;&gt;&gt;Make a copy
&gt;&gt;&gt;&gt;&gt;&gt;Entire presentation</p:text>
    <p:extLst>
      <p:ext uri="{C676402C-5697-4E1C-873F-D02D1690AC5C}">
        <p15:threadingInfo timeZoneBias="0"/>
      </p:ext>
      <p:ext uri="http://customooxmlschemas.google.com/">
        <go:slidesCustomData xmlns:go="http://customooxmlschemas.google.com/" commentPostId="AAACAWB6OJc"/>
      </p:ext>
    </p:extLst>
  </p:cm>
</p:cmLst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914400"/>
            <a:ext cx="4572225" cy="4572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" name="Google Shape;9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Cover: fill TRACK, PROJECT TITLE, ONE-LINE PITCH and TEAM names. Phone &amp; email for each member goes on the last slide, frame 09. Keep layout, colours &amp; logos as-is. RECURSION is TechnoVIT's flagship hackathon.</a:t>
            </a:r>
            <a:endParaRPr/>
          </a:p>
        </p:txBody>
      </p:sp>
      <p:sp>
        <p:nvSpPr>
          <p:cNvPr id="10" name="Google Shape;10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8" name="Google Shape;58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Answer each question in 2–3 plain lines. Someone outside your track should understand every answer.</a:t>
            </a:r>
            <a:endParaRPr/>
          </a:p>
        </p:txBody>
      </p:sp>
      <p:sp>
        <p:nvSpPr>
          <p:cNvPr id="59" name="Google Shape;59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4" name="Google Shape;94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Name the product plainly. The three answers should connect directly back to the problems on frame 02.</a:t>
            </a:r>
            <a:endParaRPr/>
          </a:p>
        </p:txBody>
      </p:sp>
      <p:sp>
        <p:nvSpPr>
          <p:cNvPr id="95" name="Google Shape;95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3" name="Google Shape;133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Replace the placeholder flow with your real architecture diagram. Name real services and models, then answer the three questions.</a:t>
            </a:r>
            <a:endParaRPr/>
          </a:p>
        </p:txBody>
      </p:sp>
      <p:sp>
        <p:nvSpPr>
          <p:cNvPr id="134" name="Google Shape;134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1" name="Google Shape;181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Be honest about scope. A working slice with a known limit beats an over-promised demo.</a:t>
            </a:r>
            <a:endParaRPr/>
          </a:p>
        </p:txBody>
      </p:sp>
      <p:sp>
        <p:nvSpPr>
          <p:cNvPr id="182" name="Google Shape;182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18" name="Google Shape;218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Pick one primary metric. Show how it was measured — an estimate is fine if you show your working.</a:t>
            </a:r>
            <a:endParaRPr/>
          </a:p>
        </p:txBody>
      </p:sp>
      <p:sp>
        <p:nvSpPr>
          <p:cNvPr id="219" name="Google Shape;219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9" name="Google Shape;259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One source per line — papers, repos, docs, datasets, model weights. Uncredited work is disqualifying.</a:t>
            </a:r>
            <a:endParaRPr/>
          </a:p>
        </p:txBody>
      </p:sp>
      <p:sp>
        <p:nvSpPr>
          <p:cNvPr id="260" name="Google Shape;260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8" name="Google Shape;278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Optional space: demo links, screenshots, GitHub, QR codes, anything extra that strengthens the submission. Delete the checklist sticker and the hint line once you're done.</a:t>
            </a:r>
            <a:endParaRPr/>
          </a:p>
        </p:txBody>
      </p:sp>
      <p:sp>
        <p:nvSpPr>
          <p:cNvPr id="279" name="Google Shape;279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0" name="Google Shape;300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List every member's phone and email so organisers and judges can follow up after the round. This slide is for the submission file — remove it if presenting live on stage.</a:t>
            </a:r>
            <a:endParaRPr/>
          </a:p>
        </p:txBody>
      </p:sp>
      <p:sp>
        <p:nvSpPr>
          <p:cNvPr id="301" name="Google Shape;301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comments" Target="../comments/commen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4E8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"/>
          <p:cNvSpPr/>
          <p:nvPr/>
        </p:nvSpPr>
        <p:spPr>
          <a:xfrm>
            <a:off x="548640" y="274320"/>
            <a:ext cx="292608" cy="292608"/>
          </a:xfrm>
          <a:prstGeom prst="rect">
            <a:avLst/>
          </a:prstGeom>
          <a:noFill/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3" name="Google Shape;13;p1"/>
          <p:cNvCxnSpPr/>
          <p:nvPr/>
        </p:nvCxnSpPr>
        <p:spPr>
          <a:xfrm>
            <a:off x="694944" y="274320"/>
            <a:ext cx="0" cy="292608"/>
          </a:xfrm>
          <a:prstGeom prst="straightConnector1">
            <a:avLst/>
          </a:prstGeom>
          <a:noFill/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" name="Google Shape;14;p1"/>
          <p:cNvCxnSpPr/>
          <p:nvPr/>
        </p:nvCxnSpPr>
        <p:spPr>
          <a:xfrm>
            <a:off x="694944" y="420624"/>
            <a:ext cx="146304" cy="0"/>
          </a:xfrm>
          <a:prstGeom prst="straightConnector1">
            <a:avLst/>
          </a:prstGeom>
          <a:noFill/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" name="Google Shape;15;p1"/>
          <p:cNvSpPr txBox="1"/>
          <p:nvPr/>
        </p:nvSpPr>
        <p:spPr>
          <a:xfrm>
            <a:off x="987552" y="329184"/>
            <a:ext cx="47548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THE FLAGSHIP MIC HACKATHON OF TECHNOVIT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1"/>
          <p:cNvSpPr txBox="1"/>
          <p:nvPr/>
        </p:nvSpPr>
        <p:spPr>
          <a:xfrm>
            <a:off x="6400800" y="329184"/>
            <a:ext cx="39776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950"/>
              <a:buFont typeface="Courier New"/>
              <a:buNone/>
            </a:pPr>
            <a:r>
              <a:rPr b="0" i="0" lang="en-US" sz="950" u="none" cap="none" strike="noStrike">
                <a:solidFill>
                  <a:srgbClr val="6E6A5E"/>
                </a:solidFill>
                <a:latin typeface="Courier New"/>
                <a:ea typeface="Courier New"/>
                <a:cs typeface="Courier New"/>
                <a:sym typeface="Courier New"/>
              </a:rPr>
              <a:t>IDEA SUBMISSION — TEMPLATE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1"/>
          <p:cNvSpPr/>
          <p:nvPr/>
        </p:nvSpPr>
        <p:spPr>
          <a:xfrm>
            <a:off x="548640" y="914400"/>
            <a:ext cx="7543800" cy="1207008"/>
          </a:xfrm>
          <a:prstGeom prst="rect">
            <a:avLst/>
          </a:prstGeom>
          <a:solidFill>
            <a:srgbClr val="FF3D1F"/>
          </a:solidFill>
          <a:ln cap="flat" cmpd="sng" w="28575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101600">
              <a:srgbClr val="111111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1"/>
          <p:cNvSpPr txBox="1"/>
          <p:nvPr/>
        </p:nvSpPr>
        <p:spPr>
          <a:xfrm>
            <a:off x="777240" y="960120"/>
            <a:ext cx="7223760" cy="11155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6800"/>
              <a:buFont typeface="Arial Black"/>
              <a:buNone/>
            </a:pPr>
            <a:r>
              <a:rPr b="0" i="0" lang="en-US" sz="6800" u="none" cap="none" strike="noStrike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RECURSION</a:t>
            </a:r>
            <a:endParaRPr b="0" i="0" sz="6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 rot="-180000">
            <a:off x="8458200" y="1078992"/>
            <a:ext cx="1965960" cy="566928"/>
          </a:xfrm>
          <a:prstGeom prst="rect">
            <a:avLst/>
          </a:prstGeom>
          <a:solidFill>
            <a:srgbClr val="111111"/>
          </a:solidFill>
          <a:ln cap="flat" cmpd="sng" w="28575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76200">
              <a:srgbClr val="FF3D1F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" name="Google Shape;20;p1"/>
          <p:cNvSpPr txBox="1"/>
          <p:nvPr/>
        </p:nvSpPr>
        <p:spPr>
          <a:xfrm rot="-180000">
            <a:off x="8458200" y="1088136"/>
            <a:ext cx="19659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AF4E8"/>
              </a:buClr>
              <a:buSzPts val="1500"/>
              <a:buFont typeface="Arial Black"/>
              <a:buNone/>
            </a:pPr>
            <a:r>
              <a:rPr b="0" i="0" lang="en-US" sz="1500" u="none" cap="none" strike="noStrike">
                <a:solidFill>
                  <a:srgbClr val="FAF4E8"/>
                </a:solidFill>
                <a:latin typeface="Arial Black"/>
                <a:ea typeface="Arial Black"/>
                <a:cs typeface="Arial Black"/>
                <a:sym typeface="Arial Black"/>
              </a:rPr>
              <a:t>EDITION II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10835640" y="896112"/>
            <a:ext cx="841248" cy="841248"/>
          </a:xfrm>
          <a:prstGeom prst="rect">
            <a:avLst/>
          </a:prstGeom>
          <a:noFill/>
          <a:ln cap="flat" cmpd="sng" w="3175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22" name="Google Shape;22;p1"/>
          <p:cNvCxnSpPr/>
          <p:nvPr/>
        </p:nvCxnSpPr>
        <p:spPr>
          <a:xfrm>
            <a:off x="11256264" y="896112"/>
            <a:ext cx="0" cy="841248"/>
          </a:xfrm>
          <a:prstGeom prst="straightConnector1">
            <a:avLst/>
          </a:prstGeom>
          <a:noFill/>
          <a:ln cap="flat" cmpd="sng" w="3175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3" name="Google Shape;23;p1"/>
          <p:cNvCxnSpPr/>
          <p:nvPr/>
        </p:nvCxnSpPr>
        <p:spPr>
          <a:xfrm>
            <a:off x="11256264" y="1316736"/>
            <a:ext cx="420624" cy="0"/>
          </a:xfrm>
          <a:prstGeom prst="straightConnector1">
            <a:avLst/>
          </a:prstGeom>
          <a:noFill/>
          <a:ln cap="flat" cmpd="sng" w="3175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4" name="Google Shape;24;p1"/>
          <p:cNvCxnSpPr/>
          <p:nvPr/>
        </p:nvCxnSpPr>
        <p:spPr>
          <a:xfrm>
            <a:off x="11466576" y="1316736"/>
            <a:ext cx="0" cy="420624"/>
          </a:xfrm>
          <a:prstGeom prst="straightConnector1">
            <a:avLst/>
          </a:prstGeom>
          <a:noFill/>
          <a:ln cap="flat" cmpd="sng" w="3175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5" name="Google Shape;25;p1"/>
          <p:cNvCxnSpPr/>
          <p:nvPr/>
        </p:nvCxnSpPr>
        <p:spPr>
          <a:xfrm>
            <a:off x="11466576" y="1527048"/>
            <a:ext cx="210312" cy="0"/>
          </a:xfrm>
          <a:prstGeom prst="straightConnector1">
            <a:avLst/>
          </a:prstGeom>
          <a:noFill/>
          <a:ln cap="flat" cmpd="sng" w="3175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" name="Google Shape;26;p1"/>
          <p:cNvSpPr txBox="1"/>
          <p:nvPr/>
        </p:nvSpPr>
        <p:spPr>
          <a:xfrm>
            <a:off x="594360" y="2395728"/>
            <a:ext cx="6858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6E6A5E"/>
                </a:solidFill>
                <a:latin typeface="Courier New"/>
                <a:ea typeface="Courier New"/>
                <a:cs typeface="Courier New"/>
                <a:sym typeface="Courier New"/>
              </a:rPr>
              <a:t>to understand recursion, first understand recursion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1"/>
          <p:cNvSpPr/>
          <p:nvPr/>
        </p:nvSpPr>
        <p:spPr>
          <a:xfrm>
            <a:off x="548640" y="2907792"/>
            <a:ext cx="7269480" cy="3127248"/>
          </a:xfrm>
          <a:prstGeom prst="rect">
            <a:avLst/>
          </a:prstGeom>
          <a:solidFill>
            <a:srgbClr val="FFFFFF"/>
          </a:solidFill>
          <a:ln cap="flat" cmpd="sng" w="28575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88900">
              <a:srgbClr val="111111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" name="Google Shape;28;p1"/>
          <p:cNvSpPr/>
          <p:nvPr/>
        </p:nvSpPr>
        <p:spPr>
          <a:xfrm>
            <a:off x="896112" y="3218688"/>
            <a:ext cx="128016" cy="128016"/>
          </a:xfrm>
          <a:prstGeom prst="rect">
            <a:avLst/>
          </a:prstGeom>
          <a:solidFill>
            <a:srgbClr val="FF3D1F"/>
          </a:solidFill>
          <a:ln cap="flat" cmpd="sng" w="1905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" name="Google Shape;29;p1"/>
          <p:cNvSpPr txBox="1"/>
          <p:nvPr/>
        </p:nvSpPr>
        <p:spPr>
          <a:xfrm>
            <a:off x="1115568" y="3182112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PROJECT TITLE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1"/>
          <p:cNvSpPr txBox="1"/>
          <p:nvPr/>
        </p:nvSpPr>
        <p:spPr>
          <a:xfrm>
            <a:off x="896112" y="3456432"/>
            <a:ext cx="65836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900"/>
              <a:buFont typeface="Arial Black"/>
              <a:buNone/>
            </a:pPr>
            <a:r>
              <a:rPr b="0" i="0" lang="en-US" sz="1900" u="none" cap="none" strike="noStrike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Causeway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1" name="Google Shape;31;p1"/>
          <p:cNvCxnSpPr/>
          <p:nvPr/>
        </p:nvCxnSpPr>
        <p:spPr>
          <a:xfrm>
            <a:off x="896112" y="4041648"/>
            <a:ext cx="6583680" cy="0"/>
          </a:xfrm>
          <a:prstGeom prst="straightConnector1">
            <a:avLst/>
          </a:prstGeom>
          <a:noFill/>
          <a:ln cap="flat" cmpd="sng" w="1905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2" name="Google Shape;32;p1"/>
          <p:cNvSpPr/>
          <p:nvPr/>
        </p:nvSpPr>
        <p:spPr>
          <a:xfrm>
            <a:off x="896112" y="4261104"/>
            <a:ext cx="128016" cy="128016"/>
          </a:xfrm>
          <a:prstGeom prst="rect">
            <a:avLst/>
          </a:prstGeom>
          <a:solidFill>
            <a:srgbClr val="111111"/>
          </a:solidFill>
          <a:ln cap="flat" cmpd="sng" w="1905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" name="Google Shape;33;p1"/>
          <p:cNvSpPr txBox="1"/>
          <p:nvPr/>
        </p:nvSpPr>
        <p:spPr>
          <a:xfrm>
            <a:off x="1115568" y="422452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ONE-LINE PITCH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1"/>
          <p:cNvSpPr txBox="1"/>
          <p:nvPr/>
        </p:nvSpPr>
        <p:spPr>
          <a:xfrm>
            <a:off x="896112" y="4480560"/>
            <a:ext cx="65836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1250"/>
              <a:buFont typeface="Arial"/>
              <a:buNone/>
            </a:pPr>
            <a:r>
              <a:rPr b="0" i="1" lang="en-US" sz="1250" u="none" cap="none" strike="noStrike">
                <a:solidFill>
                  <a:srgbClr val="6E6A5E"/>
                </a:solidFill>
                <a:latin typeface="Arial"/>
                <a:ea typeface="Arial"/>
                <a:cs typeface="Arial"/>
                <a:sym typeface="Arial"/>
              </a:rPr>
              <a:t>For SOC analysts: rebuilds the single incident behind a night of scattered alerts, names the earliest thing you could have contained, and refuses to act beyond its evidence.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5" name="Google Shape;35;p1"/>
          <p:cNvCxnSpPr/>
          <p:nvPr/>
        </p:nvCxnSpPr>
        <p:spPr>
          <a:xfrm>
            <a:off x="896112" y="4864608"/>
            <a:ext cx="6583680" cy="0"/>
          </a:xfrm>
          <a:prstGeom prst="straightConnector1">
            <a:avLst/>
          </a:prstGeom>
          <a:noFill/>
          <a:ln cap="flat" cmpd="sng" w="1905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6" name="Google Shape;36;p1"/>
          <p:cNvSpPr/>
          <p:nvPr/>
        </p:nvSpPr>
        <p:spPr>
          <a:xfrm>
            <a:off x="896112" y="5084064"/>
            <a:ext cx="128016" cy="128016"/>
          </a:xfrm>
          <a:prstGeom prst="rect">
            <a:avLst/>
          </a:prstGeom>
          <a:solidFill>
            <a:srgbClr val="FF3D1F"/>
          </a:solidFill>
          <a:ln cap="flat" cmpd="sng" w="1905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1"/>
          <p:cNvSpPr txBox="1"/>
          <p:nvPr/>
        </p:nvSpPr>
        <p:spPr>
          <a:xfrm>
            <a:off x="1115568" y="504748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TRACK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1"/>
          <p:cNvSpPr txBox="1"/>
          <p:nvPr/>
        </p:nvSpPr>
        <p:spPr>
          <a:xfrm>
            <a:off x="896112" y="5303520"/>
            <a:ext cx="65836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500"/>
              <a:buFont typeface="Arial Black"/>
              <a:buNone/>
            </a:pPr>
            <a:r>
              <a:rPr b="0" i="0" lang="en-US" sz="1500" u="none" cap="none" strike="noStrike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Cybersecurity — PS2, Causal SOC Alert Correlation &amp; Root-Cause Intelligence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9" name="Google Shape;39;p1"/>
          <p:cNvCxnSpPr/>
          <p:nvPr/>
        </p:nvCxnSpPr>
        <p:spPr>
          <a:xfrm>
            <a:off x="896112" y="5779008"/>
            <a:ext cx="6583680" cy="0"/>
          </a:xfrm>
          <a:prstGeom prst="straightConnector1">
            <a:avLst/>
          </a:prstGeom>
          <a:noFill/>
          <a:ln cap="flat" cmpd="sng" w="1905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0" name="Google Shape;40;p1"/>
          <p:cNvSpPr/>
          <p:nvPr/>
        </p:nvSpPr>
        <p:spPr>
          <a:xfrm>
            <a:off x="8138160" y="2907792"/>
            <a:ext cx="3502152" cy="3127248"/>
          </a:xfrm>
          <a:prstGeom prst="rect">
            <a:avLst/>
          </a:prstGeom>
          <a:solidFill>
            <a:srgbClr val="111111"/>
          </a:solidFill>
          <a:ln cap="flat" cmpd="sng" w="28575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88900">
              <a:srgbClr val="FF3D1F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" name="Google Shape;41;p1"/>
          <p:cNvSpPr txBox="1"/>
          <p:nvPr/>
        </p:nvSpPr>
        <p:spPr>
          <a:xfrm>
            <a:off x="8430768" y="31272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AF4E8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FAF4E8"/>
                </a:solidFill>
                <a:latin typeface="Arial"/>
                <a:ea typeface="Arial"/>
                <a:cs typeface="Arial"/>
                <a:sym typeface="Arial"/>
              </a:rPr>
              <a:t>TEAM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1"/>
          <p:cNvSpPr txBox="1"/>
          <p:nvPr/>
        </p:nvSpPr>
        <p:spPr>
          <a:xfrm>
            <a:off x="8430768" y="3346704"/>
            <a:ext cx="29260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AF4E8"/>
              </a:buClr>
              <a:buSzPts val="1600"/>
              <a:buFont typeface="Arial Black"/>
              <a:buNone/>
            </a:pPr>
            <a:r>
              <a:rPr b="0" i="0" lang="en-US" sz="1600" u="none" cap="none" strike="noStrike">
                <a:solidFill>
                  <a:srgbClr val="FAF4E8"/>
                </a:solidFill>
                <a:latin typeface="Arial Black"/>
                <a:ea typeface="Arial Black"/>
                <a:cs typeface="Arial Black"/>
                <a:sym typeface="Arial Black"/>
              </a:rPr>
              <a:t>Marlloz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3" name="Google Shape;43;p1"/>
          <p:cNvCxnSpPr/>
          <p:nvPr/>
        </p:nvCxnSpPr>
        <p:spPr>
          <a:xfrm>
            <a:off x="8430768" y="3822192"/>
            <a:ext cx="2926080" cy="0"/>
          </a:xfrm>
          <a:prstGeom prst="straightConnector1">
            <a:avLst/>
          </a:prstGeom>
          <a:noFill/>
          <a:ln cap="flat" cmpd="sng" w="19050">
            <a:solidFill>
              <a:srgbClr val="FAF4E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1"/>
          <p:cNvSpPr txBox="1"/>
          <p:nvPr/>
        </p:nvSpPr>
        <p:spPr>
          <a:xfrm>
            <a:off x="8430768" y="3950208"/>
            <a:ext cx="3017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AF4E8"/>
              </a:buClr>
              <a:buSzPts val="950"/>
              <a:buFont typeface="Courier New"/>
              <a:buNone/>
            </a:pPr>
            <a:r>
              <a:rPr b="0" i="0" lang="en-US" sz="950" u="none" cap="none" strike="noStrike">
                <a:solidFill>
                  <a:srgbClr val="FAF4E8"/>
                </a:solidFill>
                <a:latin typeface="Courier New"/>
                <a:ea typeface="Courier New"/>
                <a:cs typeface="Courier New"/>
                <a:sym typeface="Courier New"/>
              </a:rPr>
              <a:t>[ Name ]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1"/>
          <p:cNvSpPr txBox="1"/>
          <p:nvPr/>
        </p:nvSpPr>
        <p:spPr>
          <a:xfrm>
            <a:off x="8430768" y="4251960"/>
            <a:ext cx="3017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AF4E8"/>
              </a:buClr>
              <a:buSzPts val="950"/>
              <a:buFont typeface="Courier New"/>
              <a:buNone/>
            </a:pPr>
            <a:r>
              <a:rPr b="0" i="0" lang="en-US" sz="950" u="none" cap="none" strike="noStrike">
                <a:solidFill>
                  <a:srgbClr val="FAF4E8"/>
                </a:solidFill>
                <a:latin typeface="Courier New"/>
                <a:ea typeface="Courier New"/>
                <a:cs typeface="Courier New"/>
                <a:sym typeface="Courier New"/>
              </a:rPr>
              <a:t>[ Name ]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1"/>
          <p:cNvSpPr txBox="1"/>
          <p:nvPr/>
        </p:nvSpPr>
        <p:spPr>
          <a:xfrm>
            <a:off x="8430768" y="4553712"/>
            <a:ext cx="3017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AF4E8"/>
              </a:buClr>
              <a:buSzPts val="950"/>
              <a:buFont typeface="Courier New"/>
              <a:buNone/>
            </a:pPr>
            <a:r>
              <a:rPr b="0" i="0" lang="en-US" sz="950" u="none" cap="none" strike="noStrike">
                <a:solidFill>
                  <a:srgbClr val="FAF4E8"/>
                </a:solidFill>
                <a:latin typeface="Courier New"/>
                <a:ea typeface="Courier New"/>
                <a:cs typeface="Courier New"/>
                <a:sym typeface="Courier New"/>
              </a:rPr>
              <a:t>[ Name ]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1"/>
          <p:cNvSpPr txBox="1"/>
          <p:nvPr/>
        </p:nvSpPr>
        <p:spPr>
          <a:xfrm>
            <a:off x="8430768" y="4855464"/>
            <a:ext cx="3017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AF4E8"/>
              </a:buClr>
              <a:buSzPts val="950"/>
              <a:buFont typeface="Courier New"/>
              <a:buNone/>
            </a:pPr>
            <a:r>
              <a:rPr b="0" i="0" lang="en-US" sz="950" u="none" cap="none" strike="noStrike">
                <a:solidFill>
                  <a:srgbClr val="FAF4E8"/>
                </a:solidFill>
                <a:latin typeface="Courier New"/>
                <a:ea typeface="Courier New"/>
                <a:cs typeface="Courier New"/>
                <a:sym typeface="Courier New"/>
              </a:rPr>
              <a:t>[ Name ]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1"/>
          <p:cNvSpPr txBox="1"/>
          <p:nvPr/>
        </p:nvSpPr>
        <p:spPr>
          <a:xfrm>
            <a:off x="8430768" y="5157216"/>
            <a:ext cx="3017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AF4E8"/>
              </a:buClr>
              <a:buSzPts val="950"/>
              <a:buFont typeface="Courier New"/>
              <a:buNone/>
            </a:pPr>
            <a:r>
              <a:rPr b="0" i="0" lang="en-US" sz="950" u="none" cap="none" strike="noStrike">
                <a:solidFill>
                  <a:srgbClr val="FAF4E8"/>
                </a:solidFill>
                <a:latin typeface="Courier New"/>
                <a:ea typeface="Courier New"/>
                <a:cs typeface="Courier New"/>
                <a:sym typeface="Courier New"/>
              </a:rPr>
              <a:t>[ Name ]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9" name="Google Shape;49;p1"/>
          <p:cNvCxnSpPr/>
          <p:nvPr/>
        </p:nvCxnSpPr>
        <p:spPr>
          <a:xfrm>
            <a:off x="8430768" y="5541264"/>
            <a:ext cx="2926080" cy="0"/>
          </a:xfrm>
          <a:prstGeom prst="straightConnector1">
            <a:avLst/>
          </a:prstGeom>
          <a:noFill/>
          <a:ln cap="flat" cmpd="sng" w="19050">
            <a:solidFill>
              <a:srgbClr val="FAF4E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0" name="Google Shape;50;p1"/>
          <p:cNvSpPr txBox="1"/>
          <p:nvPr/>
        </p:nvSpPr>
        <p:spPr>
          <a:xfrm>
            <a:off x="8430768" y="5632704"/>
            <a:ext cx="3017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AF4E8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FAF4E8"/>
                </a:solidFill>
                <a:latin typeface="Courier New"/>
                <a:ea typeface="Courier New"/>
                <a:cs typeface="Courier New"/>
                <a:sym typeface="Courier New"/>
              </a:rPr>
              <a:t>full contact sheet → frame 09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1"/>
          <p:cNvSpPr txBox="1"/>
          <p:nvPr/>
        </p:nvSpPr>
        <p:spPr>
          <a:xfrm>
            <a:off x="548640" y="6181344"/>
            <a:ext cx="59436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None/>
            </a:pPr>
            <a:r>
              <a:t/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2" name="Google Shape;52;p1"/>
          <p:cNvCxnSpPr/>
          <p:nvPr/>
        </p:nvCxnSpPr>
        <p:spPr>
          <a:xfrm>
            <a:off x="548640" y="6455664"/>
            <a:ext cx="11094415" cy="0"/>
          </a:xfrm>
          <a:prstGeom prst="straightConnector1">
            <a:avLst/>
          </a:prstGeom>
          <a:noFill/>
          <a:ln cap="flat" cmpd="sng" w="28575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3" name="Google Shape;53;p1"/>
          <p:cNvSpPr txBox="1"/>
          <p:nvPr/>
        </p:nvSpPr>
        <p:spPr>
          <a:xfrm>
            <a:off x="8899855" y="6547104"/>
            <a:ext cx="2743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850"/>
              <a:buFont typeface="Courier New"/>
              <a:buNone/>
            </a:pPr>
            <a:r>
              <a:rPr b="0" i="0" lang="en-US" sz="850" u="none" cap="none" strike="noStrike">
                <a:solidFill>
                  <a:srgbClr val="6E6A5E"/>
                </a:solidFill>
                <a:latin typeface="Courier New"/>
                <a:ea typeface="Courier New"/>
                <a:cs typeface="Courier New"/>
                <a:sym typeface="Courier New"/>
              </a:rPr>
              <a:t>FRAME 01 / 09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1"/>
          <p:cNvSpPr/>
          <p:nvPr/>
        </p:nvSpPr>
        <p:spPr>
          <a:xfrm rot="240000">
            <a:off x="10972800" y="237744"/>
            <a:ext cx="621792" cy="621792"/>
          </a:xfrm>
          <a:prstGeom prst="rect">
            <a:avLst/>
          </a:prstGeom>
          <a:solidFill>
            <a:srgbClr val="FF3D1F"/>
          </a:solidFill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63500">
              <a:srgbClr val="111111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1"/>
          <p:cNvSpPr txBox="1"/>
          <p:nvPr/>
        </p:nvSpPr>
        <p:spPr>
          <a:xfrm rot="240000">
            <a:off x="10972800" y="246888"/>
            <a:ext cx="621792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700"/>
              <a:buFont typeface="Arial Black"/>
              <a:buNone/>
            </a:pPr>
            <a:r>
              <a:rPr b="0" i="0" lang="en-US" sz="1700" u="none" cap="none" strike="noStrike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01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4E8"/>
        </a:solidFill>
      </p:bgPr>
    </p:bg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2"/>
          <p:cNvSpPr/>
          <p:nvPr/>
        </p:nvSpPr>
        <p:spPr>
          <a:xfrm>
            <a:off x="548640" y="274320"/>
            <a:ext cx="292608" cy="292608"/>
          </a:xfrm>
          <a:prstGeom prst="rect">
            <a:avLst/>
          </a:prstGeom>
          <a:noFill/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62" name="Google Shape;62;p2"/>
          <p:cNvCxnSpPr/>
          <p:nvPr/>
        </p:nvCxnSpPr>
        <p:spPr>
          <a:xfrm>
            <a:off x="694944" y="274320"/>
            <a:ext cx="0" cy="292608"/>
          </a:xfrm>
          <a:prstGeom prst="straightConnector1">
            <a:avLst/>
          </a:prstGeom>
          <a:noFill/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" name="Google Shape;63;p2"/>
          <p:cNvCxnSpPr/>
          <p:nvPr/>
        </p:nvCxnSpPr>
        <p:spPr>
          <a:xfrm>
            <a:off x="694944" y="420624"/>
            <a:ext cx="146304" cy="0"/>
          </a:xfrm>
          <a:prstGeom prst="straightConnector1">
            <a:avLst/>
          </a:prstGeom>
          <a:noFill/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4" name="Google Shape;64;p2"/>
          <p:cNvSpPr txBox="1"/>
          <p:nvPr/>
        </p:nvSpPr>
        <p:spPr>
          <a:xfrm>
            <a:off x="987552" y="329184"/>
            <a:ext cx="38404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950"/>
              <a:buFont typeface="Arial"/>
              <a:buNone/>
            </a:pPr>
            <a:r>
              <a:rPr b="1" lang="en-US" sz="950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RECURSION </a:t>
            </a:r>
            <a:r>
              <a:rPr b="1" lang="en-US" sz="950">
                <a:solidFill>
                  <a:srgbClr val="111111"/>
                </a:solidFill>
              </a:rPr>
              <a:t>- </a:t>
            </a:r>
            <a:r>
              <a:rPr b="1" lang="en-US" sz="950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EDITION II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2"/>
          <p:cNvSpPr/>
          <p:nvPr/>
        </p:nvSpPr>
        <p:spPr>
          <a:xfrm rot="240000">
            <a:off x="10972800" y="237744"/>
            <a:ext cx="621792" cy="621792"/>
          </a:xfrm>
          <a:prstGeom prst="rect">
            <a:avLst/>
          </a:prstGeom>
          <a:solidFill>
            <a:srgbClr val="FF3D1F"/>
          </a:solidFill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63500">
              <a:srgbClr val="111111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2"/>
          <p:cNvSpPr txBox="1"/>
          <p:nvPr/>
        </p:nvSpPr>
        <p:spPr>
          <a:xfrm rot="240000">
            <a:off x="10972800" y="246888"/>
            <a:ext cx="621792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700"/>
              <a:buFont typeface="Arial Black"/>
              <a:buNone/>
            </a:pPr>
            <a:r>
              <a:rPr lang="en-US" sz="170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02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7" name="Google Shape;67;p2"/>
          <p:cNvCxnSpPr/>
          <p:nvPr/>
        </p:nvCxnSpPr>
        <p:spPr>
          <a:xfrm>
            <a:off x="548640" y="6455664"/>
            <a:ext cx="11094415" cy="0"/>
          </a:xfrm>
          <a:prstGeom prst="straightConnector1">
            <a:avLst/>
          </a:prstGeom>
          <a:noFill/>
          <a:ln cap="flat" cmpd="sng" w="28575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8" name="Google Shape;68;p2"/>
          <p:cNvSpPr txBox="1"/>
          <p:nvPr/>
        </p:nvSpPr>
        <p:spPr>
          <a:xfrm>
            <a:off x="548640" y="6547104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6E6A5E"/>
                </a:solidFill>
                <a:latin typeface="Courier New"/>
                <a:ea typeface="Courier New"/>
                <a:cs typeface="Courier New"/>
                <a:sym typeface="Courier New"/>
              </a:rPr>
              <a:t>TECHNOVIT'S FLAGSHIP HACKATHON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2"/>
          <p:cNvSpPr txBox="1"/>
          <p:nvPr/>
        </p:nvSpPr>
        <p:spPr>
          <a:xfrm>
            <a:off x="8899855" y="6547104"/>
            <a:ext cx="2743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6E6A5E"/>
                </a:solidFill>
                <a:latin typeface="Courier New"/>
                <a:ea typeface="Courier New"/>
                <a:cs typeface="Courier New"/>
                <a:sym typeface="Courier New"/>
              </a:rPr>
              <a:t>FRAME 02 / 09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2"/>
          <p:cNvSpPr txBox="1"/>
          <p:nvPr/>
        </p:nvSpPr>
        <p:spPr>
          <a:xfrm>
            <a:off x="548640" y="932688"/>
            <a:ext cx="96926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3000"/>
              <a:buFont typeface="Arial Black"/>
              <a:buNone/>
            </a:pPr>
            <a:r>
              <a:rPr lang="en-US" sz="300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PROBLEM DEFINITION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2"/>
          <p:cNvSpPr txBox="1"/>
          <p:nvPr/>
        </p:nvSpPr>
        <p:spPr>
          <a:xfrm>
            <a:off x="548640" y="1554480"/>
            <a:ext cx="96926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1000"/>
              <a:buFont typeface="Courier New"/>
              <a:buNone/>
            </a:pPr>
            <a:r>
              <a:rPr lang="en-US" sz="1000">
                <a:solidFill>
                  <a:srgbClr val="6E6A5E"/>
                </a:solidFill>
                <a:latin typeface="Courier New"/>
                <a:ea typeface="Courier New"/>
                <a:cs typeface="Courier New"/>
                <a:sym typeface="Courier New"/>
              </a:rPr>
              <a:t>answer in 2–3 lines · readable outside your track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2"/>
          <p:cNvSpPr/>
          <p:nvPr/>
        </p:nvSpPr>
        <p:spPr>
          <a:xfrm>
            <a:off x="548640" y="1993392"/>
            <a:ext cx="5468112" cy="1975104"/>
          </a:xfrm>
          <a:prstGeom prst="rect">
            <a:avLst/>
          </a:prstGeom>
          <a:solidFill>
            <a:srgbClr val="FFFFFF"/>
          </a:solidFill>
          <a:ln cap="flat" cmpd="sng" w="28575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76200">
              <a:srgbClr val="111111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2"/>
          <p:cNvSpPr/>
          <p:nvPr/>
        </p:nvSpPr>
        <p:spPr>
          <a:xfrm>
            <a:off x="822960" y="2267712"/>
            <a:ext cx="384048" cy="384048"/>
          </a:xfrm>
          <a:prstGeom prst="rect">
            <a:avLst/>
          </a:prstGeom>
          <a:solidFill>
            <a:srgbClr val="FF3D1F"/>
          </a:solidFill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2"/>
          <p:cNvSpPr txBox="1"/>
          <p:nvPr/>
        </p:nvSpPr>
        <p:spPr>
          <a:xfrm>
            <a:off x="822960" y="2276856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300"/>
              <a:buFont typeface="Arial Black"/>
              <a:buNone/>
            </a:pPr>
            <a:r>
              <a:rPr lang="en-US" sz="130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01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2"/>
          <p:cNvSpPr txBox="1"/>
          <p:nvPr/>
        </p:nvSpPr>
        <p:spPr>
          <a:xfrm>
            <a:off x="1371600" y="2304288"/>
            <a:ext cx="437083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350"/>
              <a:buFont typeface="Arial Black"/>
              <a:buNone/>
            </a:pPr>
            <a:r>
              <a:rPr lang="en-US" sz="135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WHO &amp; HOW OFTEN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2"/>
          <p:cNvSpPr txBox="1"/>
          <p:nvPr/>
        </p:nvSpPr>
        <p:spPr>
          <a:xfrm>
            <a:off x="822960" y="2862072"/>
            <a:ext cx="4919472" cy="9235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1150"/>
              <a:buFont typeface="Arial"/>
              <a:buNone/>
            </a:pPr>
            <a:r>
              <a:rPr i="1" lang="en-US" sz="1150">
                <a:solidFill>
                  <a:srgbClr val="6E6A5E"/>
                </a:solidFill>
                <a:latin typeface="Arial"/>
                <a:ea typeface="Arial"/>
                <a:cs typeface="Arial"/>
                <a:sym typeface="Arial"/>
              </a:rPr>
              <a:t>SOC analysts and incident responders, every shift. Alerts arrive from endpoint, identity, email, firewall and cloud at once — and a single attacker action can produce dozens of technically correct ones.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2"/>
          <p:cNvSpPr/>
          <p:nvPr/>
        </p:nvSpPr>
        <p:spPr>
          <a:xfrm>
            <a:off x="6519672" y="1993392"/>
            <a:ext cx="5468112" cy="1975104"/>
          </a:xfrm>
          <a:prstGeom prst="rect">
            <a:avLst/>
          </a:prstGeom>
          <a:solidFill>
            <a:srgbClr val="FFFFFF"/>
          </a:solidFill>
          <a:ln cap="flat" cmpd="sng" w="28575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76200">
              <a:srgbClr val="111111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2"/>
          <p:cNvSpPr/>
          <p:nvPr/>
        </p:nvSpPr>
        <p:spPr>
          <a:xfrm>
            <a:off x="6793992" y="2267712"/>
            <a:ext cx="384048" cy="384048"/>
          </a:xfrm>
          <a:prstGeom prst="rect">
            <a:avLst/>
          </a:prstGeom>
          <a:solidFill>
            <a:srgbClr val="111111"/>
          </a:solidFill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2"/>
          <p:cNvSpPr txBox="1"/>
          <p:nvPr/>
        </p:nvSpPr>
        <p:spPr>
          <a:xfrm>
            <a:off x="6793992" y="2276856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 Black"/>
              <a:buNone/>
            </a:pPr>
            <a:r>
              <a:rPr lang="en-US" sz="1300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02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2"/>
          <p:cNvSpPr txBox="1"/>
          <p:nvPr/>
        </p:nvSpPr>
        <p:spPr>
          <a:xfrm>
            <a:off x="7342632" y="2304288"/>
            <a:ext cx="437083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350"/>
              <a:buFont typeface="Arial Black"/>
              <a:buNone/>
            </a:pPr>
            <a:r>
              <a:rPr lang="en-US" sz="135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TODAY'S WORKAROUND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2"/>
          <p:cNvSpPr txBox="1"/>
          <p:nvPr/>
        </p:nvSpPr>
        <p:spPr>
          <a:xfrm>
            <a:off x="6793992" y="2862072"/>
            <a:ext cx="4919472" cy="9235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1150"/>
              <a:buFont typeface="Arial"/>
              <a:buNone/>
            </a:pPr>
            <a:r>
              <a:rPr i="1" lang="en-US" sz="1150">
                <a:solidFill>
                  <a:srgbClr val="6E6A5E"/>
                </a:solidFill>
                <a:latin typeface="Arial"/>
                <a:ea typeface="Arial"/>
                <a:cs typeface="Arial"/>
                <a:sym typeface="Arial"/>
              </a:rPr>
              <a:t>Analysts pivot between consoles by hand, matching timestamps, resolving identities and tracing processes to judge whether two alerts are one incident. Tooling dedups by merging alerts whose text looks alike.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2"/>
          <p:cNvSpPr/>
          <p:nvPr/>
        </p:nvSpPr>
        <p:spPr>
          <a:xfrm>
            <a:off x="548640" y="4297680"/>
            <a:ext cx="5468112" cy="1975104"/>
          </a:xfrm>
          <a:prstGeom prst="rect">
            <a:avLst/>
          </a:prstGeom>
          <a:solidFill>
            <a:srgbClr val="FFFFFF"/>
          </a:solidFill>
          <a:ln cap="flat" cmpd="sng" w="28575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76200">
              <a:srgbClr val="111111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2"/>
          <p:cNvSpPr/>
          <p:nvPr/>
        </p:nvSpPr>
        <p:spPr>
          <a:xfrm>
            <a:off x="822960" y="4572000"/>
            <a:ext cx="384048" cy="384048"/>
          </a:xfrm>
          <a:prstGeom prst="rect">
            <a:avLst/>
          </a:prstGeom>
          <a:solidFill>
            <a:srgbClr val="FF3D1F"/>
          </a:solidFill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2"/>
          <p:cNvSpPr txBox="1"/>
          <p:nvPr/>
        </p:nvSpPr>
        <p:spPr>
          <a:xfrm>
            <a:off x="822960" y="4581144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300"/>
              <a:buFont typeface="Arial Black"/>
              <a:buNone/>
            </a:pPr>
            <a:r>
              <a:rPr lang="en-US" sz="130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03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2"/>
          <p:cNvSpPr txBox="1"/>
          <p:nvPr/>
        </p:nvSpPr>
        <p:spPr>
          <a:xfrm>
            <a:off x="1371600" y="4608576"/>
            <a:ext cx="437083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350"/>
              <a:buFont typeface="Arial Black"/>
              <a:buNone/>
            </a:pPr>
            <a:r>
              <a:rPr lang="en-US" sz="135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WHY IT FALLS SHORT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2"/>
          <p:cNvSpPr txBox="1"/>
          <p:nvPr/>
        </p:nvSpPr>
        <p:spPr>
          <a:xfrm>
            <a:off x="822960" y="5166360"/>
            <a:ext cx="4919472" cy="9235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1150"/>
              <a:buFont typeface="Arial"/>
              <a:buNone/>
            </a:pPr>
            <a:r>
              <a:rPr i="1" lang="en-US" sz="1150">
                <a:solidFill>
                  <a:srgbClr val="6E6A5E"/>
                </a:solidFill>
                <a:latin typeface="Arial"/>
                <a:ea typeface="Arial"/>
                <a:cs typeface="Arial"/>
                <a:sym typeface="Arial"/>
              </a:rPr>
              <a:t>Merging on text destroys evidence — two alerts that read identically can be two different attack stages. Broad automation isolates hosts on weak grounds. Both teach analysts to close queues rather than investigate.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2"/>
          <p:cNvSpPr/>
          <p:nvPr/>
        </p:nvSpPr>
        <p:spPr>
          <a:xfrm>
            <a:off x="6519672" y="4297680"/>
            <a:ext cx="5468112" cy="1975104"/>
          </a:xfrm>
          <a:prstGeom prst="rect">
            <a:avLst/>
          </a:prstGeom>
          <a:solidFill>
            <a:srgbClr val="FFFFFF"/>
          </a:solidFill>
          <a:ln cap="flat" cmpd="sng" w="28575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76200">
              <a:srgbClr val="111111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2"/>
          <p:cNvSpPr/>
          <p:nvPr/>
        </p:nvSpPr>
        <p:spPr>
          <a:xfrm>
            <a:off x="6793992" y="4572000"/>
            <a:ext cx="384048" cy="384048"/>
          </a:xfrm>
          <a:prstGeom prst="rect">
            <a:avLst/>
          </a:prstGeom>
          <a:solidFill>
            <a:srgbClr val="FF3D1F"/>
          </a:solidFill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2"/>
          <p:cNvSpPr txBox="1"/>
          <p:nvPr/>
        </p:nvSpPr>
        <p:spPr>
          <a:xfrm>
            <a:off x="6793992" y="4581144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300"/>
              <a:buFont typeface="Arial Black"/>
              <a:buNone/>
            </a:pPr>
            <a:r>
              <a:rPr lang="en-US" sz="130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04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2"/>
          <p:cNvSpPr txBox="1"/>
          <p:nvPr/>
        </p:nvSpPr>
        <p:spPr>
          <a:xfrm>
            <a:off x="7342632" y="4608576"/>
            <a:ext cx="437083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350"/>
              <a:buFont typeface="Arial Black"/>
              <a:buNone/>
            </a:pPr>
            <a:r>
              <a:rPr lang="en-US" sz="135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EVIDENCE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2"/>
          <p:cNvSpPr txBox="1"/>
          <p:nvPr/>
        </p:nvSpPr>
        <p:spPr>
          <a:xfrm>
            <a:off x="6793992" y="5166360"/>
            <a:ext cx="4919472" cy="9235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1150"/>
              <a:buFont typeface="Arial"/>
              <a:buNone/>
            </a:pPr>
            <a:r>
              <a:rPr i="1" lang="en-US" sz="1150">
                <a:solidFill>
                  <a:srgbClr val="6E6A5E"/>
                </a:solidFill>
                <a:latin typeface="Arial"/>
                <a:ea typeface="Arial"/>
                <a:cs typeface="Arial"/>
                <a:sym typeface="Arial"/>
              </a:rPr>
              <a:t>We measured it. On a 938-alert corpus containing a 9-stage intrusion, text-similarity dedup buried the successful login that was the actual root cause, and recovered only 4 of the 9 stages.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4E8"/>
        </a:solidFill>
      </p:bgPr>
    </p:bg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3"/>
          <p:cNvSpPr/>
          <p:nvPr/>
        </p:nvSpPr>
        <p:spPr>
          <a:xfrm>
            <a:off x="548640" y="274320"/>
            <a:ext cx="292608" cy="292608"/>
          </a:xfrm>
          <a:prstGeom prst="rect">
            <a:avLst/>
          </a:prstGeom>
          <a:noFill/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98" name="Google Shape;98;p3"/>
          <p:cNvCxnSpPr/>
          <p:nvPr/>
        </p:nvCxnSpPr>
        <p:spPr>
          <a:xfrm>
            <a:off x="694944" y="274320"/>
            <a:ext cx="0" cy="292608"/>
          </a:xfrm>
          <a:prstGeom prst="straightConnector1">
            <a:avLst/>
          </a:prstGeom>
          <a:noFill/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99" name="Google Shape;99;p3"/>
          <p:cNvCxnSpPr/>
          <p:nvPr/>
        </p:nvCxnSpPr>
        <p:spPr>
          <a:xfrm>
            <a:off x="694944" y="420624"/>
            <a:ext cx="146304" cy="0"/>
          </a:xfrm>
          <a:prstGeom prst="straightConnector1">
            <a:avLst/>
          </a:prstGeom>
          <a:noFill/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0" name="Google Shape;100;p3"/>
          <p:cNvSpPr txBox="1"/>
          <p:nvPr/>
        </p:nvSpPr>
        <p:spPr>
          <a:xfrm>
            <a:off x="987552" y="329184"/>
            <a:ext cx="38404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950"/>
              <a:buFont typeface="Arial"/>
              <a:buNone/>
            </a:pPr>
            <a:r>
              <a:rPr b="1" lang="en-US" sz="950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RECURSION — EDITION II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3"/>
          <p:cNvSpPr/>
          <p:nvPr/>
        </p:nvSpPr>
        <p:spPr>
          <a:xfrm rot="240000">
            <a:off x="10972800" y="237744"/>
            <a:ext cx="621792" cy="621792"/>
          </a:xfrm>
          <a:prstGeom prst="rect">
            <a:avLst/>
          </a:prstGeom>
          <a:solidFill>
            <a:srgbClr val="FF3D1F"/>
          </a:solidFill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63500">
              <a:srgbClr val="111111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3"/>
          <p:cNvSpPr txBox="1"/>
          <p:nvPr/>
        </p:nvSpPr>
        <p:spPr>
          <a:xfrm rot="240000">
            <a:off x="10972800" y="246888"/>
            <a:ext cx="621792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700"/>
              <a:buFont typeface="Arial Black"/>
              <a:buNone/>
            </a:pPr>
            <a:r>
              <a:rPr lang="en-US" sz="170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03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3" name="Google Shape;103;p3"/>
          <p:cNvCxnSpPr/>
          <p:nvPr/>
        </p:nvCxnSpPr>
        <p:spPr>
          <a:xfrm>
            <a:off x="548640" y="6455664"/>
            <a:ext cx="11094415" cy="0"/>
          </a:xfrm>
          <a:prstGeom prst="straightConnector1">
            <a:avLst/>
          </a:prstGeom>
          <a:noFill/>
          <a:ln cap="flat" cmpd="sng" w="28575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4" name="Google Shape;104;p3"/>
          <p:cNvSpPr txBox="1"/>
          <p:nvPr/>
        </p:nvSpPr>
        <p:spPr>
          <a:xfrm>
            <a:off x="548640" y="6547104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6E6A5E"/>
                </a:solidFill>
                <a:latin typeface="Courier New"/>
                <a:ea typeface="Courier New"/>
                <a:cs typeface="Courier New"/>
                <a:sym typeface="Courier New"/>
              </a:rPr>
              <a:t>TECHNOVIT'S FLAGSHIP HACKATHON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3"/>
          <p:cNvSpPr txBox="1"/>
          <p:nvPr/>
        </p:nvSpPr>
        <p:spPr>
          <a:xfrm>
            <a:off x="8899855" y="6547104"/>
            <a:ext cx="2743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6E6A5E"/>
                </a:solidFill>
                <a:latin typeface="Courier New"/>
                <a:ea typeface="Courier New"/>
                <a:cs typeface="Courier New"/>
                <a:sym typeface="Courier New"/>
              </a:rPr>
              <a:t>FRAME 03 / 09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3"/>
          <p:cNvSpPr txBox="1"/>
          <p:nvPr/>
        </p:nvSpPr>
        <p:spPr>
          <a:xfrm>
            <a:off x="548640" y="932688"/>
            <a:ext cx="96926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3000"/>
              <a:buFont typeface="Arial Black"/>
              <a:buNone/>
            </a:pPr>
            <a:r>
              <a:rPr lang="en-US" sz="300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PROPOSED SOLUTION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3"/>
          <p:cNvSpPr txBox="1"/>
          <p:nvPr/>
        </p:nvSpPr>
        <p:spPr>
          <a:xfrm>
            <a:off x="548640" y="1554480"/>
            <a:ext cx="96926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1000"/>
              <a:buFont typeface="Courier New"/>
              <a:buNone/>
            </a:pPr>
            <a:r>
              <a:rPr lang="en-US" sz="1000">
                <a:solidFill>
                  <a:srgbClr val="6E6A5E"/>
                </a:solidFill>
                <a:latin typeface="Courier New"/>
                <a:ea typeface="Courier New"/>
                <a:cs typeface="Courier New"/>
                <a:sym typeface="Courier New"/>
              </a:rPr>
              <a:t>name it plainly · connect straight back to frame 02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3"/>
          <p:cNvSpPr/>
          <p:nvPr/>
        </p:nvSpPr>
        <p:spPr>
          <a:xfrm>
            <a:off x="548640" y="2057400"/>
            <a:ext cx="3931920" cy="4041648"/>
          </a:xfrm>
          <a:prstGeom prst="rect">
            <a:avLst/>
          </a:prstGeom>
          <a:solidFill>
            <a:srgbClr val="FF3D1F"/>
          </a:solidFill>
          <a:ln cap="flat" cmpd="sng" w="28575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88900">
              <a:srgbClr val="111111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3"/>
          <p:cNvSpPr txBox="1"/>
          <p:nvPr/>
        </p:nvSpPr>
        <p:spPr>
          <a:xfrm>
            <a:off x="868680" y="2377440"/>
            <a:ext cx="32918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950"/>
              <a:buFont typeface="Arial"/>
              <a:buNone/>
            </a:pPr>
            <a:r>
              <a:rPr b="1" lang="en-US" sz="950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PRODUCT / SYSTEM NAME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3"/>
          <p:cNvSpPr txBox="1"/>
          <p:nvPr/>
        </p:nvSpPr>
        <p:spPr>
          <a:xfrm>
            <a:off x="868680" y="2670048"/>
            <a:ext cx="329184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2100"/>
              <a:buFont typeface="Arial Black"/>
              <a:buNone/>
            </a:pPr>
            <a:r>
              <a:rPr lang="en-US" sz="210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Causeway</a:t>
            </a:r>
            <a:endParaRPr sz="2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1" name="Google Shape;111;p3"/>
          <p:cNvCxnSpPr/>
          <p:nvPr/>
        </p:nvCxnSpPr>
        <p:spPr>
          <a:xfrm>
            <a:off x="868680" y="4069080"/>
            <a:ext cx="3291840" cy="0"/>
          </a:xfrm>
          <a:prstGeom prst="straightConnector1">
            <a:avLst/>
          </a:prstGeom>
          <a:noFill/>
          <a:ln cap="flat" cmpd="sng" w="1905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2" name="Google Shape;112;p3"/>
          <p:cNvSpPr txBox="1"/>
          <p:nvPr/>
        </p:nvSpPr>
        <p:spPr>
          <a:xfrm>
            <a:off x="868680" y="4251960"/>
            <a:ext cx="329184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A362E"/>
              </a:buClr>
              <a:buSzPts val="1150"/>
              <a:buFont typeface="Arial"/>
              <a:buNone/>
            </a:pPr>
            <a:r>
              <a:rPr i="1" lang="en-US" sz="1150">
                <a:solidFill>
                  <a:srgbClr val="3A362E"/>
                </a:solidFill>
                <a:latin typeface="Arial"/>
                <a:ea typeface="Arial"/>
                <a:cs typeface="Arial"/>
                <a:sym typeface="Arial"/>
              </a:rPr>
              <a:t>A correlation layer that reconstructs the causal incident behind scattered alerts, ranks what to contain, and gates every response on the evidence actually supporting it.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3"/>
          <p:cNvSpPr/>
          <p:nvPr/>
        </p:nvSpPr>
        <p:spPr>
          <a:xfrm>
            <a:off x="868680" y="5532120"/>
            <a:ext cx="384048" cy="384048"/>
          </a:xfrm>
          <a:prstGeom prst="rect">
            <a:avLst/>
          </a:prstGeom>
          <a:noFill/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14" name="Google Shape;114;p3"/>
          <p:cNvCxnSpPr/>
          <p:nvPr/>
        </p:nvCxnSpPr>
        <p:spPr>
          <a:xfrm>
            <a:off x="1060704" y="5532120"/>
            <a:ext cx="0" cy="384048"/>
          </a:xfrm>
          <a:prstGeom prst="straightConnector1">
            <a:avLst/>
          </a:prstGeom>
          <a:noFill/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5" name="Google Shape;115;p3"/>
          <p:cNvCxnSpPr/>
          <p:nvPr/>
        </p:nvCxnSpPr>
        <p:spPr>
          <a:xfrm>
            <a:off x="1060704" y="5724144"/>
            <a:ext cx="192024" cy="0"/>
          </a:xfrm>
          <a:prstGeom prst="straightConnector1">
            <a:avLst/>
          </a:prstGeom>
          <a:noFill/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6" name="Google Shape;116;p3"/>
          <p:cNvSpPr/>
          <p:nvPr/>
        </p:nvSpPr>
        <p:spPr>
          <a:xfrm>
            <a:off x="4892040" y="2057400"/>
            <a:ext cx="6748272" cy="1234440"/>
          </a:xfrm>
          <a:prstGeom prst="rect">
            <a:avLst/>
          </a:prstGeom>
          <a:solidFill>
            <a:srgbClr val="FFFFFF"/>
          </a:solidFill>
          <a:ln cap="flat" cmpd="sng" w="28575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76200">
              <a:srgbClr val="111111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3"/>
          <p:cNvSpPr/>
          <p:nvPr/>
        </p:nvSpPr>
        <p:spPr>
          <a:xfrm>
            <a:off x="5148072" y="2295144"/>
            <a:ext cx="365760" cy="365760"/>
          </a:xfrm>
          <a:prstGeom prst="rect">
            <a:avLst/>
          </a:prstGeom>
          <a:solidFill>
            <a:srgbClr val="FF3D1F"/>
          </a:solidFill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3"/>
          <p:cNvSpPr txBox="1"/>
          <p:nvPr/>
        </p:nvSpPr>
        <p:spPr>
          <a:xfrm>
            <a:off x="5148072" y="2304288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300"/>
              <a:buFont typeface="Arial Black"/>
              <a:buNone/>
            </a:pPr>
            <a:r>
              <a:rPr lang="en-US" sz="130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01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3"/>
          <p:cNvSpPr txBox="1"/>
          <p:nvPr/>
        </p:nvSpPr>
        <p:spPr>
          <a:xfrm>
            <a:off x="5669280" y="2313432"/>
            <a:ext cx="5742432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250"/>
              <a:buFont typeface="Arial Black"/>
              <a:buNone/>
            </a:pPr>
            <a:r>
              <a:rPr lang="en-US" sz="125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WHAT A USER DOES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3"/>
          <p:cNvSpPr txBox="1"/>
          <p:nvPr/>
        </p:nvSpPr>
        <p:spPr>
          <a:xfrm>
            <a:off x="5669280" y="2715768"/>
            <a:ext cx="56967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1150"/>
              <a:buFont typeface="Arial"/>
              <a:buNone/>
            </a:pPr>
            <a:r>
              <a:rPr i="1" lang="en-US" sz="1150">
                <a:solidFill>
                  <a:srgbClr val="6E6A5E"/>
                </a:solidFill>
                <a:latin typeface="Arial"/>
                <a:ea typeface="Arial"/>
                <a:cs typeface="Arial"/>
                <a:sym typeface="Arial"/>
              </a:rPr>
              <a:t>Point it at the alert stream, then open one case instead of hundreds: a causal graph with time across and one lane per machine, the ranked root cause, and a recommended action that shows its reasoning.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3"/>
          <p:cNvSpPr/>
          <p:nvPr/>
        </p:nvSpPr>
        <p:spPr>
          <a:xfrm>
            <a:off x="4892040" y="3465576"/>
            <a:ext cx="6748272" cy="1234440"/>
          </a:xfrm>
          <a:prstGeom prst="rect">
            <a:avLst/>
          </a:prstGeom>
          <a:solidFill>
            <a:srgbClr val="FFFFFF"/>
          </a:solidFill>
          <a:ln cap="flat" cmpd="sng" w="28575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76200">
              <a:srgbClr val="111111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3"/>
          <p:cNvSpPr/>
          <p:nvPr/>
        </p:nvSpPr>
        <p:spPr>
          <a:xfrm>
            <a:off x="5148072" y="3703320"/>
            <a:ext cx="365760" cy="365760"/>
          </a:xfrm>
          <a:prstGeom prst="rect">
            <a:avLst/>
          </a:prstGeom>
          <a:solidFill>
            <a:srgbClr val="111111"/>
          </a:solidFill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3"/>
          <p:cNvSpPr txBox="1"/>
          <p:nvPr/>
        </p:nvSpPr>
        <p:spPr>
          <a:xfrm>
            <a:off x="5148072" y="3712464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 Black"/>
              <a:buNone/>
            </a:pPr>
            <a:r>
              <a:rPr lang="en-US" sz="1300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02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3"/>
          <p:cNvSpPr txBox="1"/>
          <p:nvPr/>
        </p:nvSpPr>
        <p:spPr>
          <a:xfrm>
            <a:off x="5669280" y="3721608"/>
            <a:ext cx="5742432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250"/>
              <a:buFont typeface="Arial Black"/>
              <a:buNone/>
            </a:pPr>
            <a:r>
              <a:rPr lang="en-US" sz="125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WHY IT BEATS THE WORKAROUND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3"/>
          <p:cNvSpPr txBox="1"/>
          <p:nvPr/>
        </p:nvSpPr>
        <p:spPr>
          <a:xfrm>
            <a:off x="5669280" y="4123944"/>
            <a:ext cx="56967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1150"/>
              <a:buFont typeface="Arial"/>
              <a:buNone/>
            </a:pPr>
            <a:r>
              <a:rPr i="1" lang="en-US" sz="1150">
                <a:solidFill>
                  <a:srgbClr val="6E6A5E"/>
                </a:solidFill>
                <a:latin typeface="Arial"/>
                <a:ea typeface="Arial"/>
                <a:cs typeface="Arial"/>
                <a:sym typeface="Arial"/>
              </a:rPr>
              <a:t>938 alerts became 17 cases. All nine attack stages landed in one incident — recall 1.00 — and the top-ranked root cause was correct. Nothing is deleted: every suppressed alert is held with its grounds.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3"/>
          <p:cNvSpPr/>
          <p:nvPr/>
        </p:nvSpPr>
        <p:spPr>
          <a:xfrm>
            <a:off x="4892040" y="4873752"/>
            <a:ext cx="6748272" cy="1234440"/>
          </a:xfrm>
          <a:prstGeom prst="rect">
            <a:avLst/>
          </a:prstGeom>
          <a:solidFill>
            <a:srgbClr val="FFFFFF"/>
          </a:solidFill>
          <a:ln cap="flat" cmpd="sng" w="28575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76200">
              <a:srgbClr val="111111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3"/>
          <p:cNvSpPr/>
          <p:nvPr/>
        </p:nvSpPr>
        <p:spPr>
          <a:xfrm>
            <a:off x="5148072" y="5111496"/>
            <a:ext cx="365760" cy="365760"/>
          </a:xfrm>
          <a:prstGeom prst="rect">
            <a:avLst/>
          </a:prstGeom>
          <a:solidFill>
            <a:srgbClr val="FF3D1F"/>
          </a:solidFill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3"/>
          <p:cNvSpPr txBox="1"/>
          <p:nvPr/>
        </p:nvSpPr>
        <p:spPr>
          <a:xfrm>
            <a:off x="5148072" y="5120640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300"/>
              <a:buFont typeface="Arial Black"/>
              <a:buNone/>
            </a:pPr>
            <a:r>
              <a:rPr lang="en-US" sz="130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03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3"/>
          <p:cNvSpPr txBox="1"/>
          <p:nvPr/>
        </p:nvSpPr>
        <p:spPr>
          <a:xfrm>
            <a:off x="5669280" y="5129784"/>
            <a:ext cx="5742432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250"/>
              <a:buFont typeface="Arial Black"/>
              <a:buNone/>
            </a:pPr>
            <a:r>
              <a:rPr lang="en-US" sz="125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WHAT'S GENUINELY DIFFERENT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3"/>
          <p:cNvSpPr txBox="1"/>
          <p:nvPr/>
        </p:nvSpPr>
        <p:spPr>
          <a:xfrm>
            <a:off x="5669280" y="5532120"/>
            <a:ext cx="56967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1150"/>
              <a:buFont typeface="Arial"/>
              <a:buNone/>
            </a:pPr>
            <a:r>
              <a:rPr i="1" lang="en-US" sz="1150">
                <a:solidFill>
                  <a:srgbClr val="6E6A5E"/>
                </a:solidFill>
                <a:latin typeface="Arial"/>
                <a:ea typeface="Arial"/>
                <a:cs typeface="Arial"/>
                <a:sym typeface="Arial"/>
              </a:rPr>
              <a:t>We rank entities, not alerts: nobody contains a row, they disable an account. And correlation confidence is kept apart from evidentiary trust, so a case can be near-certain and still barred from isolating a host.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4E8"/>
        </a:solid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4"/>
          <p:cNvSpPr/>
          <p:nvPr/>
        </p:nvSpPr>
        <p:spPr>
          <a:xfrm>
            <a:off x="548640" y="274320"/>
            <a:ext cx="292608" cy="292608"/>
          </a:xfrm>
          <a:prstGeom prst="rect">
            <a:avLst/>
          </a:prstGeom>
          <a:noFill/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37" name="Google Shape;137;p4"/>
          <p:cNvCxnSpPr/>
          <p:nvPr/>
        </p:nvCxnSpPr>
        <p:spPr>
          <a:xfrm>
            <a:off x="694944" y="274320"/>
            <a:ext cx="0" cy="292608"/>
          </a:xfrm>
          <a:prstGeom prst="straightConnector1">
            <a:avLst/>
          </a:prstGeom>
          <a:noFill/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38" name="Google Shape;138;p4"/>
          <p:cNvCxnSpPr/>
          <p:nvPr/>
        </p:nvCxnSpPr>
        <p:spPr>
          <a:xfrm>
            <a:off x="694944" y="420624"/>
            <a:ext cx="146304" cy="0"/>
          </a:xfrm>
          <a:prstGeom prst="straightConnector1">
            <a:avLst/>
          </a:prstGeom>
          <a:noFill/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9" name="Google Shape;139;p4"/>
          <p:cNvSpPr txBox="1"/>
          <p:nvPr/>
        </p:nvSpPr>
        <p:spPr>
          <a:xfrm>
            <a:off x="987552" y="329184"/>
            <a:ext cx="38404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950"/>
              <a:buFont typeface="Arial"/>
              <a:buNone/>
            </a:pPr>
            <a:r>
              <a:rPr b="1" lang="en-US" sz="950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RECURSION — EDITION II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4"/>
          <p:cNvSpPr/>
          <p:nvPr/>
        </p:nvSpPr>
        <p:spPr>
          <a:xfrm rot="240000">
            <a:off x="10972800" y="237744"/>
            <a:ext cx="621792" cy="621792"/>
          </a:xfrm>
          <a:prstGeom prst="rect">
            <a:avLst/>
          </a:prstGeom>
          <a:solidFill>
            <a:srgbClr val="FF3D1F"/>
          </a:solidFill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63500">
              <a:srgbClr val="111111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4"/>
          <p:cNvSpPr txBox="1"/>
          <p:nvPr/>
        </p:nvSpPr>
        <p:spPr>
          <a:xfrm rot="240000">
            <a:off x="10972800" y="246888"/>
            <a:ext cx="621792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700"/>
              <a:buFont typeface="Arial Black"/>
              <a:buNone/>
            </a:pPr>
            <a:r>
              <a:rPr lang="en-US" sz="170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04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2" name="Google Shape;142;p4"/>
          <p:cNvCxnSpPr/>
          <p:nvPr/>
        </p:nvCxnSpPr>
        <p:spPr>
          <a:xfrm>
            <a:off x="548640" y="6455664"/>
            <a:ext cx="11094415" cy="0"/>
          </a:xfrm>
          <a:prstGeom prst="straightConnector1">
            <a:avLst/>
          </a:prstGeom>
          <a:noFill/>
          <a:ln cap="flat" cmpd="sng" w="28575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3" name="Google Shape;143;p4"/>
          <p:cNvSpPr txBox="1"/>
          <p:nvPr/>
        </p:nvSpPr>
        <p:spPr>
          <a:xfrm>
            <a:off x="548640" y="6547104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6E6A5E"/>
                </a:solidFill>
                <a:latin typeface="Courier New"/>
                <a:ea typeface="Courier New"/>
                <a:cs typeface="Courier New"/>
                <a:sym typeface="Courier New"/>
              </a:rPr>
              <a:t>TECHNOVIT'S FLAGSHIP HACKATHON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4"/>
          <p:cNvSpPr txBox="1"/>
          <p:nvPr/>
        </p:nvSpPr>
        <p:spPr>
          <a:xfrm>
            <a:off x="8899855" y="6547104"/>
            <a:ext cx="2743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6E6A5E"/>
                </a:solidFill>
                <a:latin typeface="Courier New"/>
                <a:ea typeface="Courier New"/>
                <a:cs typeface="Courier New"/>
                <a:sym typeface="Courier New"/>
              </a:rPr>
              <a:t>FRAME 04 / 09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4"/>
          <p:cNvSpPr txBox="1"/>
          <p:nvPr/>
        </p:nvSpPr>
        <p:spPr>
          <a:xfrm>
            <a:off x="548640" y="932688"/>
            <a:ext cx="96926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3000"/>
              <a:buFont typeface="Arial Black"/>
              <a:buNone/>
            </a:pPr>
            <a:r>
              <a:rPr lang="en-US" sz="300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SYSTEM ARCHITECTURE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4"/>
          <p:cNvSpPr txBox="1"/>
          <p:nvPr/>
        </p:nvSpPr>
        <p:spPr>
          <a:xfrm>
            <a:off x="548640" y="1554480"/>
            <a:ext cx="96926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1000"/>
              <a:buFont typeface="Courier New"/>
              <a:buNone/>
            </a:pPr>
            <a:r>
              <a:rPr lang="en-US" sz="1000">
                <a:solidFill>
                  <a:srgbClr val="6E6A5E"/>
                </a:solidFill>
                <a:latin typeface="Courier New"/>
                <a:ea typeface="Courier New"/>
                <a:cs typeface="Courier New"/>
                <a:sym typeface="Courier New"/>
              </a:rPr>
              <a:t>walk the full flow · name real services &amp; models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4"/>
          <p:cNvSpPr/>
          <p:nvPr/>
        </p:nvSpPr>
        <p:spPr>
          <a:xfrm>
            <a:off x="548640" y="1993392"/>
            <a:ext cx="11091672" cy="1810512"/>
          </a:xfrm>
          <a:prstGeom prst="rect">
            <a:avLst/>
          </a:prstGeom>
          <a:solidFill>
            <a:srgbClr val="FFFFFF"/>
          </a:solidFill>
          <a:ln cap="flat" cmpd="sng" w="28575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88900">
              <a:srgbClr val="111111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4"/>
          <p:cNvSpPr txBox="1"/>
          <p:nvPr/>
        </p:nvSpPr>
        <p:spPr>
          <a:xfrm>
            <a:off x="841248" y="2194560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6E6A5E"/>
                </a:solidFill>
                <a:latin typeface="Courier New"/>
                <a:ea typeface="Courier New"/>
                <a:cs typeface="Courier New"/>
                <a:sym typeface="Courier New"/>
              </a:rPr>
              <a:t>FIG. 04-A — SYSTEM FLOW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4"/>
          <p:cNvSpPr/>
          <p:nvPr/>
        </p:nvSpPr>
        <p:spPr>
          <a:xfrm>
            <a:off x="1421892" y="2542032"/>
            <a:ext cx="1371600" cy="566928"/>
          </a:xfrm>
          <a:prstGeom prst="rect">
            <a:avLst/>
          </a:prstGeom>
          <a:solidFill>
            <a:srgbClr val="FF3D1F"/>
          </a:solidFill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50800">
              <a:srgbClr val="111111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4"/>
          <p:cNvSpPr txBox="1"/>
          <p:nvPr/>
        </p:nvSpPr>
        <p:spPr>
          <a:xfrm>
            <a:off x="1421892" y="2542032"/>
            <a:ext cx="13716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900"/>
              <a:buFont typeface="Arial Black"/>
              <a:buNone/>
            </a:pPr>
            <a:r>
              <a:rPr lang="en-US" sz="90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ALERTS IN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1" name="Google Shape;151;p4"/>
          <p:cNvCxnSpPr/>
          <p:nvPr/>
        </p:nvCxnSpPr>
        <p:spPr>
          <a:xfrm>
            <a:off x="2848356" y="2825496"/>
            <a:ext cx="237744" cy="0"/>
          </a:xfrm>
          <a:prstGeom prst="straightConnector1">
            <a:avLst/>
          </a:prstGeom>
          <a:noFill/>
          <a:ln cap="flat" cmpd="sng" w="31750">
            <a:solidFill>
              <a:srgbClr val="111111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152" name="Google Shape;152;p4"/>
          <p:cNvSpPr/>
          <p:nvPr/>
        </p:nvSpPr>
        <p:spPr>
          <a:xfrm>
            <a:off x="3140964" y="2542032"/>
            <a:ext cx="1417320" cy="566928"/>
          </a:xfrm>
          <a:prstGeom prst="rect">
            <a:avLst/>
          </a:prstGeom>
          <a:solidFill>
            <a:srgbClr val="FFFFFF"/>
          </a:solidFill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50800">
              <a:srgbClr val="111111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4"/>
          <p:cNvSpPr txBox="1"/>
          <p:nvPr/>
        </p:nvSpPr>
        <p:spPr>
          <a:xfrm>
            <a:off x="3140964" y="2542032"/>
            <a:ext cx="14173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900"/>
              <a:buFont typeface="Arial Black"/>
              <a:buNone/>
            </a:pPr>
            <a:r>
              <a:rPr lang="en-US" sz="90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RESOLVE + DEDUP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4" name="Google Shape;154;p4"/>
          <p:cNvCxnSpPr/>
          <p:nvPr/>
        </p:nvCxnSpPr>
        <p:spPr>
          <a:xfrm>
            <a:off x="4613148" y="2825496"/>
            <a:ext cx="237744" cy="0"/>
          </a:xfrm>
          <a:prstGeom prst="straightConnector1">
            <a:avLst/>
          </a:prstGeom>
          <a:noFill/>
          <a:ln cap="flat" cmpd="sng" w="31750">
            <a:solidFill>
              <a:srgbClr val="111111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155" name="Google Shape;155;p4"/>
          <p:cNvSpPr/>
          <p:nvPr/>
        </p:nvSpPr>
        <p:spPr>
          <a:xfrm>
            <a:off x="4905756" y="2542032"/>
            <a:ext cx="1783080" cy="566928"/>
          </a:xfrm>
          <a:prstGeom prst="rect">
            <a:avLst/>
          </a:prstGeom>
          <a:solidFill>
            <a:srgbClr val="111111"/>
          </a:solidFill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50800">
              <a:srgbClr val="111111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4"/>
          <p:cNvSpPr txBox="1"/>
          <p:nvPr/>
        </p:nvSpPr>
        <p:spPr>
          <a:xfrm>
            <a:off x="4905756" y="2542032"/>
            <a:ext cx="178308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 Black"/>
              <a:buNone/>
            </a:pPr>
            <a:r>
              <a:rPr lang="en-US" sz="900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CAUSAL EDGES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7" name="Google Shape;157;p4"/>
          <p:cNvCxnSpPr/>
          <p:nvPr/>
        </p:nvCxnSpPr>
        <p:spPr>
          <a:xfrm>
            <a:off x="6743700" y="2825496"/>
            <a:ext cx="237744" cy="0"/>
          </a:xfrm>
          <a:prstGeom prst="straightConnector1">
            <a:avLst/>
          </a:prstGeom>
          <a:noFill/>
          <a:ln cap="flat" cmpd="sng" w="31750">
            <a:solidFill>
              <a:srgbClr val="111111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158" name="Google Shape;158;p4"/>
          <p:cNvSpPr/>
          <p:nvPr/>
        </p:nvSpPr>
        <p:spPr>
          <a:xfrm>
            <a:off x="7036308" y="2542032"/>
            <a:ext cx="2331720" cy="566928"/>
          </a:xfrm>
          <a:prstGeom prst="rect">
            <a:avLst/>
          </a:prstGeom>
          <a:solidFill>
            <a:srgbClr val="FF3D1F"/>
          </a:solidFill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50800">
              <a:srgbClr val="111111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4"/>
          <p:cNvSpPr txBox="1"/>
          <p:nvPr/>
        </p:nvSpPr>
        <p:spPr>
          <a:xfrm>
            <a:off x="7036308" y="2542032"/>
            <a:ext cx="2331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900"/>
              <a:buFont typeface="Arial Black"/>
              <a:buNone/>
            </a:pPr>
            <a:r>
              <a:rPr lang="en-US" sz="90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EVIDENCE GATEWAY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60" name="Google Shape;160;p4"/>
          <p:cNvCxnSpPr/>
          <p:nvPr/>
        </p:nvCxnSpPr>
        <p:spPr>
          <a:xfrm>
            <a:off x="9422892" y="2825496"/>
            <a:ext cx="237744" cy="0"/>
          </a:xfrm>
          <a:prstGeom prst="straightConnector1">
            <a:avLst/>
          </a:prstGeom>
          <a:noFill/>
          <a:ln cap="flat" cmpd="sng" w="31750">
            <a:solidFill>
              <a:srgbClr val="111111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161" name="Google Shape;161;p4"/>
          <p:cNvSpPr/>
          <p:nvPr/>
        </p:nvSpPr>
        <p:spPr>
          <a:xfrm>
            <a:off x="9715500" y="2542032"/>
            <a:ext cx="1051560" cy="566928"/>
          </a:xfrm>
          <a:prstGeom prst="rect">
            <a:avLst/>
          </a:prstGeom>
          <a:solidFill>
            <a:srgbClr val="FF3D1F"/>
          </a:solidFill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50800">
              <a:srgbClr val="111111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4"/>
          <p:cNvSpPr txBox="1"/>
          <p:nvPr/>
        </p:nvSpPr>
        <p:spPr>
          <a:xfrm>
            <a:off x="9715500" y="2542032"/>
            <a:ext cx="10515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900"/>
              <a:buFont typeface="Arial Black"/>
              <a:buNone/>
            </a:pPr>
            <a:r>
              <a:rPr lang="en-US" sz="90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CASE + ACTION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4"/>
          <p:cNvSpPr txBox="1"/>
          <p:nvPr/>
        </p:nvSpPr>
        <p:spPr>
          <a:xfrm>
            <a:off x="548640" y="3364992"/>
            <a:ext cx="11091672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950"/>
              <a:buFont typeface="Courier New"/>
              <a:buNone/>
            </a:pPr>
            <a:r>
              <a:rPr lang="en-US" sz="950">
                <a:solidFill>
                  <a:srgbClr val="6E6A5E"/>
                </a:solidFill>
                <a:latin typeface="Courier New"/>
                <a:ea typeface="Courier New"/>
                <a:cs typeface="Courier New"/>
                <a:sym typeface="Courier New"/>
              </a:rPr>
              <a:t>alerts from any product → canonical entities → causal DAG → evidence-gated response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4"/>
          <p:cNvSpPr/>
          <p:nvPr/>
        </p:nvSpPr>
        <p:spPr>
          <a:xfrm>
            <a:off x="548640" y="4187952"/>
            <a:ext cx="3575304" cy="1920240"/>
          </a:xfrm>
          <a:prstGeom prst="rect">
            <a:avLst/>
          </a:prstGeom>
          <a:solidFill>
            <a:srgbClr val="FFFFFF"/>
          </a:solidFill>
          <a:ln cap="flat" cmpd="sng" w="28575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76200">
              <a:srgbClr val="111111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4"/>
          <p:cNvSpPr/>
          <p:nvPr/>
        </p:nvSpPr>
        <p:spPr>
          <a:xfrm>
            <a:off x="804672" y="4425696"/>
            <a:ext cx="365760" cy="365760"/>
          </a:xfrm>
          <a:prstGeom prst="rect">
            <a:avLst/>
          </a:prstGeom>
          <a:solidFill>
            <a:srgbClr val="FF3D1F"/>
          </a:solidFill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4"/>
          <p:cNvSpPr txBox="1"/>
          <p:nvPr/>
        </p:nvSpPr>
        <p:spPr>
          <a:xfrm>
            <a:off x="804672" y="4434840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300"/>
              <a:buFont typeface="Arial Black"/>
              <a:buNone/>
            </a:pPr>
            <a:r>
              <a:rPr lang="en-US" sz="130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01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4"/>
          <p:cNvSpPr txBox="1"/>
          <p:nvPr/>
        </p:nvSpPr>
        <p:spPr>
          <a:xfrm>
            <a:off x="1298448" y="4407408"/>
            <a:ext cx="26151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100"/>
              <a:buFont typeface="Arial Black"/>
              <a:buNone/>
            </a:pPr>
            <a:r>
              <a:rPr lang="en-US" sz="110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KEY TECHNICAL DECISION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4"/>
          <p:cNvSpPr txBox="1"/>
          <p:nvPr/>
        </p:nvSpPr>
        <p:spPr>
          <a:xfrm>
            <a:off x="804672" y="4992624"/>
            <a:ext cx="30632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1100"/>
              <a:buFont typeface="Arial"/>
              <a:buNone/>
            </a:pPr>
            <a:r>
              <a:rPr i="1" lang="en-US" sz="1100">
                <a:solidFill>
                  <a:srgbClr val="6E6A5E"/>
                </a:solidFill>
                <a:latin typeface="Arial"/>
                <a:ea typeface="Arial"/>
                <a:cs typeface="Arial"/>
                <a:sym typeface="Arial"/>
              </a:rPr>
              <a:t>No model and no network call in the decision path. Correlation is deterministic rules over resolved entities, so the pipeline runs in ~24 ms and every edge and every refusal can be explained in one sentence.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4"/>
          <p:cNvSpPr/>
          <p:nvPr/>
        </p:nvSpPr>
        <p:spPr>
          <a:xfrm>
            <a:off x="4306824" y="4187952"/>
            <a:ext cx="3575304" cy="1920240"/>
          </a:xfrm>
          <a:prstGeom prst="rect">
            <a:avLst/>
          </a:prstGeom>
          <a:solidFill>
            <a:srgbClr val="FFFFFF"/>
          </a:solidFill>
          <a:ln cap="flat" cmpd="sng" w="28575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76200">
              <a:srgbClr val="111111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p4"/>
          <p:cNvSpPr/>
          <p:nvPr/>
        </p:nvSpPr>
        <p:spPr>
          <a:xfrm>
            <a:off x="4562856" y="4425696"/>
            <a:ext cx="365760" cy="365760"/>
          </a:xfrm>
          <a:prstGeom prst="rect">
            <a:avLst/>
          </a:prstGeom>
          <a:solidFill>
            <a:srgbClr val="111111"/>
          </a:solidFill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4"/>
          <p:cNvSpPr txBox="1"/>
          <p:nvPr/>
        </p:nvSpPr>
        <p:spPr>
          <a:xfrm>
            <a:off x="4562856" y="4434840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 Black"/>
              <a:buNone/>
            </a:pPr>
            <a:r>
              <a:rPr lang="en-US" sz="1300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02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4"/>
          <p:cNvSpPr txBox="1"/>
          <p:nvPr/>
        </p:nvSpPr>
        <p:spPr>
          <a:xfrm>
            <a:off x="5056632" y="4407408"/>
            <a:ext cx="26151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100"/>
              <a:buFont typeface="Arial Black"/>
              <a:buNone/>
            </a:pPr>
            <a:r>
              <a:rPr lang="en-US" sz="110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HARDEST PART TO BUILD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4"/>
          <p:cNvSpPr txBox="1"/>
          <p:nvPr/>
        </p:nvSpPr>
        <p:spPr>
          <a:xfrm>
            <a:off x="4562856" y="4992624"/>
            <a:ext cx="30632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1100"/>
              <a:buFont typeface="Arial"/>
              <a:buNone/>
            </a:pPr>
            <a:r>
              <a:rPr i="1" lang="en-US" sz="1100">
                <a:solidFill>
                  <a:srgbClr val="6E6A5E"/>
                </a:solidFill>
                <a:latin typeface="Arial"/>
                <a:ea typeface="Arial"/>
                <a:cs typeface="Arial"/>
                <a:sym typeface="Arial"/>
              </a:rPr>
              <a:t>Stopping the benign estate collapsing into one false incident. Solved by weighting each entity by rarity: the domain controller links nothing, a host seen in nine observations links strongly.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4"/>
          <p:cNvSpPr/>
          <p:nvPr/>
        </p:nvSpPr>
        <p:spPr>
          <a:xfrm>
            <a:off x="8065008" y="4187952"/>
            <a:ext cx="3575304" cy="1920240"/>
          </a:xfrm>
          <a:prstGeom prst="rect">
            <a:avLst/>
          </a:prstGeom>
          <a:solidFill>
            <a:srgbClr val="FFFFFF"/>
          </a:solidFill>
          <a:ln cap="flat" cmpd="sng" w="28575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76200">
              <a:srgbClr val="111111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4"/>
          <p:cNvSpPr/>
          <p:nvPr/>
        </p:nvSpPr>
        <p:spPr>
          <a:xfrm>
            <a:off x="8321040" y="4425696"/>
            <a:ext cx="365760" cy="365760"/>
          </a:xfrm>
          <a:prstGeom prst="rect">
            <a:avLst/>
          </a:prstGeom>
          <a:solidFill>
            <a:srgbClr val="FF3D1F"/>
          </a:solidFill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p4"/>
          <p:cNvSpPr txBox="1"/>
          <p:nvPr/>
        </p:nvSpPr>
        <p:spPr>
          <a:xfrm>
            <a:off x="8321040" y="4434840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300"/>
              <a:buFont typeface="Arial Black"/>
              <a:buNone/>
            </a:pPr>
            <a:r>
              <a:rPr lang="en-US" sz="130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03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4"/>
          <p:cNvSpPr txBox="1"/>
          <p:nvPr/>
        </p:nvSpPr>
        <p:spPr>
          <a:xfrm>
            <a:off x="8814816" y="4407408"/>
            <a:ext cx="26151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100"/>
              <a:buFont typeface="Arial Black"/>
              <a:buNone/>
            </a:pPr>
            <a:r>
              <a:rPr lang="en-US" sz="110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HOW YOU KNOW IT WORKS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4"/>
          <p:cNvSpPr txBox="1"/>
          <p:nvPr/>
        </p:nvSpPr>
        <p:spPr>
          <a:xfrm>
            <a:off x="8321040" y="4992624"/>
            <a:ext cx="30632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1100"/>
              <a:buFont typeface="Arial"/>
              <a:buNone/>
            </a:pPr>
            <a:r>
              <a:rPr i="1" lang="en-US" sz="1100">
                <a:solidFill>
                  <a:srgbClr val="6E6A5E"/>
                </a:solidFill>
                <a:latin typeface="Arial"/>
                <a:ea typeface="Arial"/>
                <a:cs typeface="Arial"/>
                <a:sym typeface="Arial"/>
              </a:rPr>
              <a:t>27 tests and four configurations on identical input, including negative controls: with rarity weighting off, precision collapses to 0.13 while compression improves. An AST check proves no rule can read the labels.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4E8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5"/>
          <p:cNvSpPr/>
          <p:nvPr/>
        </p:nvSpPr>
        <p:spPr>
          <a:xfrm>
            <a:off x="548640" y="274320"/>
            <a:ext cx="292608" cy="292608"/>
          </a:xfrm>
          <a:prstGeom prst="rect">
            <a:avLst/>
          </a:prstGeom>
          <a:noFill/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85" name="Google Shape;185;p5"/>
          <p:cNvCxnSpPr/>
          <p:nvPr/>
        </p:nvCxnSpPr>
        <p:spPr>
          <a:xfrm>
            <a:off x="694944" y="274320"/>
            <a:ext cx="0" cy="292608"/>
          </a:xfrm>
          <a:prstGeom prst="straightConnector1">
            <a:avLst/>
          </a:prstGeom>
          <a:noFill/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86" name="Google Shape;186;p5"/>
          <p:cNvCxnSpPr/>
          <p:nvPr/>
        </p:nvCxnSpPr>
        <p:spPr>
          <a:xfrm>
            <a:off x="694944" y="420624"/>
            <a:ext cx="146304" cy="0"/>
          </a:xfrm>
          <a:prstGeom prst="straightConnector1">
            <a:avLst/>
          </a:prstGeom>
          <a:noFill/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7" name="Google Shape;187;p5"/>
          <p:cNvSpPr txBox="1"/>
          <p:nvPr/>
        </p:nvSpPr>
        <p:spPr>
          <a:xfrm>
            <a:off x="987552" y="329184"/>
            <a:ext cx="38404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950"/>
              <a:buFont typeface="Arial"/>
              <a:buNone/>
            </a:pPr>
            <a:r>
              <a:rPr b="1" lang="en-US" sz="950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RECURSION — EDITION II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5"/>
          <p:cNvSpPr/>
          <p:nvPr/>
        </p:nvSpPr>
        <p:spPr>
          <a:xfrm rot="240000">
            <a:off x="10972800" y="237744"/>
            <a:ext cx="621792" cy="621792"/>
          </a:xfrm>
          <a:prstGeom prst="rect">
            <a:avLst/>
          </a:prstGeom>
          <a:solidFill>
            <a:srgbClr val="FF3D1F"/>
          </a:solidFill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63500">
              <a:srgbClr val="111111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5"/>
          <p:cNvSpPr txBox="1"/>
          <p:nvPr/>
        </p:nvSpPr>
        <p:spPr>
          <a:xfrm rot="240000">
            <a:off x="10972800" y="246888"/>
            <a:ext cx="621792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700"/>
              <a:buFont typeface="Arial Black"/>
              <a:buNone/>
            </a:pPr>
            <a:r>
              <a:rPr lang="en-US" sz="170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05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90" name="Google Shape;190;p5"/>
          <p:cNvCxnSpPr/>
          <p:nvPr/>
        </p:nvCxnSpPr>
        <p:spPr>
          <a:xfrm>
            <a:off x="548640" y="6455664"/>
            <a:ext cx="11094415" cy="0"/>
          </a:xfrm>
          <a:prstGeom prst="straightConnector1">
            <a:avLst/>
          </a:prstGeom>
          <a:noFill/>
          <a:ln cap="flat" cmpd="sng" w="28575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1" name="Google Shape;191;p5"/>
          <p:cNvSpPr txBox="1"/>
          <p:nvPr/>
        </p:nvSpPr>
        <p:spPr>
          <a:xfrm>
            <a:off x="548640" y="6547104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6E6A5E"/>
                </a:solidFill>
                <a:latin typeface="Courier New"/>
                <a:ea typeface="Courier New"/>
                <a:cs typeface="Courier New"/>
                <a:sym typeface="Courier New"/>
              </a:rPr>
              <a:t>TECHNOVIT'S FLAGSHIP HACKATHON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5"/>
          <p:cNvSpPr txBox="1"/>
          <p:nvPr/>
        </p:nvSpPr>
        <p:spPr>
          <a:xfrm>
            <a:off x="8899855" y="6547104"/>
            <a:ext cx="2743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6E6A5E"/>
                </a:solidFill>
                <a:latin typeface="Courier New"/>
                <a:ea typeface="Courier New"/>
                <a:cs typeface="Courier New"/>
                <a:sym typeface="Courier New"/>
              </a:rPr>
              <a:t>FRAME 05 / 09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5"/>
          <p:cNvSpPr txBox="1"/>
          <p:nvPr/>
        </p:nvSpPr>
        <p:spPr>
          <a:xfrm>
            <a:off x="548640" y="932688"/>
            <a:ext cx="96926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3000"/>
              <a:buFont typeface="Arial Black"/>
              <a:buNone/>
            </a:pPr>
            <a:r>
              <a:rPr lang="en-US" sz="300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FEASIBILITY &amp; SCOPE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5"/>
          <p:cNvSpPr txBox="1"/>
          <p:nvPr/>
        </p:nvSpPr>
        <p:spPr>
          <a:xfrm>
            <a:off x="548640" y="1554480"/>
            <a:ext cx="96926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1000"/>
              <a:buFont typeface="Courier New"/>
              <a:buNone/>
            </a:pPr>
            <a:r>
              <a:rPr lang="en-US" sz="1000">
                <a:solidFill>
                  <a:srgbClr val="6E6A5E"/>
                </a:solidFill>
                <a:latin typeface="Courier New"/>
                <a:ea typeface="Courier New"/>
                <a:cs typeface="Courier New"/>
                <a:sym typeface="Courier New"/>
              </a:rPr>
              <a:t>a working slice with a known limit beats an over-promised demo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5"/>
          <p:cNvSpPr/>
          <p:nvPr/>
        </p:nvSpPr>
        <p:spPr>
          <a:xfrm>
            <a:off x="548640" y="1993392"/>
            <a:ext cx="5468112" cy="1975104"/>
          </a:xfrm>
          <a:prstGeom prst="rect">
            <a:avLst/>
          </a:prstGeom>
          <a:solidFill>
            <a:srgbClr val="FF3D1F"/>
          </a:solidFill>
          <a:ln cap="flat" cmpd="sng" w="28575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76200">
              <a:srgbClr val="111111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5"/>
          <p:cNvSpPr/>
          <p:nvPr/>
        </p:nvSpPr>
        <p:spPr>
          <a:xfrm>
            <a:off x="822960" y="2267712"/>
            <a:ext cx="384048" cy="384048"/>
          </a:xfrm>
          <a:prstGeom prst="rect">
            <a:avLst/>
          </a:prstGeom>
          <a:solidFill>
            <a:srgbClr val="FFFFFF"/>
          </a:solidFill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" name="Google Shape;197;p5"/>
          <p:cNvSpPr txBox="1"/>
          <p:nvPr/>
        </p:nvSpPr>
        <p:spPr>
          <a:xfrm>
            <a:off x="822960" y="2276856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300"/>
              <a:buFont typeface="Arial Black"/>
              <a:buNone/>
            </a:pPr>
            <a:r>
              <a:rPr lang="en-US" sz="130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01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5"/>
          <p:cNvSpPr txBox="1"/>
          <p:nvPr/>
        </p:nvSpPr>
        <p:spPr>
          <a:xfrm>
            <a:off x="1371600" y="2304288"/>
            <a:ext cx="437083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350"/>
              <a:buFont typeface="Arial Black"/>
              <a:buNone/>
            </a:pPr>
            <a:r>
              <a:rPr lang="en-US" sz="135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SCOPE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5"/>
          <p:cNvSpPr txBox="1"/>
          <p:nvPr/>
        </p:nvSpPr>
        <p:spPr>
          <a:xfrm>
            <a:off x="822960" y="2889504"/>
            <a:ext cx="4919472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150"/>
              <a:buFont typeface="Arial"/>
              <a:buNone/>
            </a:pPr>
            <a:r>
              <a:rPr b="1" lang="en-US" sz="1150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In:  </a:t>
            </a:r>
            <a:r>
              <a:rPr i="1" lang="en-US" sz="1150">
                <a:solidFill>
                  <a:srgbClr val="3A362E"/>
                </a:solidFill>
                <a:latin typeface="Arial"/>
                <a:ea typeface="Arial"/>
                <a:cs typeface="Arial"/>
                <a:sym typeface="Arial"/>
              </a:rPr>
              <a:t>multi-sensor correlation, entity resolution, duplicate suppression with a reversible ledger, entity-level root cause, evidence-gated response, working console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5"/>
          <p:cNvSpPr txBox="1"/>
          <p:nvPr/>
        </p:nvSpPr>
        <p:spPr>
          <a:xfrm>
            <a:off x="822960" y="3291840"/>
            <a:ext cx="4919472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150"/>
              <a:buFont typeface="Arial"/>
              <a:buNone/>
            </a:pPr>
            <a:r>
              <a:rPr b="1" lang="en-US" sz="1150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Out:  </a:t>
            </a:r>
            <a:r>
              <a:rPr i="1" lang="en-US" sz="1150">
                <a:solidFill>
                  <a:srgbClr val="3A362E"/>
                </a:solidFill>
                <a:latin typeface="Arial"/>
                <a:ea typeface="Arial"/>
                <a:cs typeface="Arial"/>
                <a:sym typeface="Arial"/>
              </a:rPr>
              <a:t>we recommend actions, we never execute them; no live SIEM/EDR connectors, no ML model, no ticketing integration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5"/>
          <p:cNvSpPr/>
          <p:nvPr/>
        </p:nvSpPr>
        <p:spPr>
          <a:xfrm>
            <a:off x="6519672" y="1993392"/>
            <a:ext cx="5468112" cy="1975104"/>
          </a:xfrm>
          <a:prstGeom prst="rect">
            <a:avLst/>
          </a:prstGeom>
          <a:solidFill>
            <a:srgbClr val="FFFFFF"/>
          </a:solidFill>
          <a:ln cap="flat" cmpd="sng" w="28575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76200">
              <a:srgbClr val="111111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5"/>
          <p:cNvSpPr/>
          <p:nvPr/>
        </p:nvSpPr>
        <p:spPr>
          <a:xfrm>
            <a:off x="6793992" y="2267712"/>
            <a:ext cx="384048" cy="384048"/>
          </a:xfrm>
          <a:prstGeom prst="rect">
            <a:avLst/>
          </a:prstGeom>
          <a:solidFill>
            <a:srgbClr val="111111"/>
          </a:solidFill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5"/>
          <p:cNvSpPr txBox="1"/>
          <p:nvPr/>
        </p:nvSpPr>
        <p:spPr>
          <a:xfrm>
            <a:off x="6793992" y="2276856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 Black"/>
              <a:buNone/>
            </a:pPr>
            <a:r>
              <a:rPr lang="en-US" sz="1300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02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5"/>
          <p:cNvSpPr txBox="1"/>
          <p:nvPr/>
        </p:nvSpPr>
        <p:spPr>
          <a:xfrm>
            <a:off x="7342632" y="2304288"/>
            <a:ext cx="437083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350"/>
              <a:buFont typeface="Arial Black"/>
              <a:buNone/>
            </a:pPr>
            <a:r>
              <a:rPr lang="en-US" sz="135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RUNNING COST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5"/>
          <p:cNvSpPr txBox="1"/>
          <p:nvPr/>
        </p:nvSpPr>
        <p:spPr>
          <a:xfrm>
            <a:off x="6793992" y="2862072"/>
            <a:ext cx="4919472" cy="9235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1150"/>
              <a:buFont typeface="Arial"/>
              <a:buNone/>
            </a:pPr>
            <a:r>
              <a:rPr i="1" lang="en-US" sz="1150">
                <a:solidFill>
                  <a:srgbClr val="6E6A5E"/>
                </a:solidFill>
                <a:latin typeface="Arial"/>
                <a:ea typeface="Arial"/>
                <a:cs typeface="Arial"/>
                <a:sym typeface="Arial"/>
              </a:rPr>
              <a:t>Effectively zero. Pure Python, no model calls, no external API. 938 alerts process in ~24 ms on a laptop and a containment preview takes ~190 µs. Runs fully on-premise, which matters for security telemetry.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5"/>
          <p:cNvSpPr/>
          <p:nvPr/>
        </p:nvSpPr>
        <p:spPr>
          <a:xfrm>
            <a:off x="548640" y="4297680"/>
            <a:ext cx="5468112" cy="1975104"/>
          </a:xfrm>
          <a:prstGeom prst="rect">
            <a:avLst/>
          </a:prstGeom>
          <a:solidFill>
            <a:srgbClr val="FFFFFF"/>
          </a:solidFill>
          <a:ln cap="flat" cmpd="sng" w="28575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76200">
              <a:srgbClr val="111111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" name="Google Shape;207;p5"/>
          <p:cNvSpPr/>
          <p:nvPr/>
        </p:nvSpPr>
        <p:spPr>
          <a:xfrm>
            <a:off x="822960" y="4572000"/>
            <a:ext cx="384048" cy="384048"/>
          </a:xfrm>
          <a:prstGeom prst="rect">
            <a:avLst/>
          </a:prstGeom>
          <a:solidFill>
            <a:srgbClr val="FF3D1F"/>
          </a:solidFill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5"/>
          <p:cNvSpPr txBox="1"/>
          <p:nvPr/>
        </p:nvSpPr>
        <p:spPr>
          <a:xfrm>
            <a:off x="822960" y="4581144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300"/>
              <a:buFont typeface="Arial Black"/>
              <a:buNone/>
            </a:pPr>
            <a:r>
              <a:rPr lang="en-US" sz="130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03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5"/>
          <p:cNvSpPr txBox="1"/>
          <p:nvPr/>
        </p:nvSpPr>
        <p:spPr>
          <a:xfrm>
            <a:off x="1371600" y="4608576"/>
            <a:ext cx="437083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350"/>
              <a:buFont typeface="Arial Black"/>
              <a:buNone/>
            </a:pPr>
            <a:r>
              <a:rPr lang="en-US" sz="135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RISKS &amp; FALLBACK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5"/>
          <p:cNvSpPr txBox="1"/>
          <p:nvPr/>
        </p:nvSpPr>
        <p:spPr>
          <a:xfrm>
            <a:off x="822960" y="5166360"/>
            <a:ext cx="4919472" cy="9235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1150"/>
              <a:buFont typeface="Arial"/>
              <a:buNone/>
            </a:pPr>
            <a:r>
              <a:rPr i="1" lang="en-US" sz="1150">
                <a:solidFill>
                  <a:srgbClr val="6E6A5E"/>
                </a:solidFill>
                <a:latin typeface="Arial"/>
                <a:ea typeface="Arial"/>
                <a:cs typeface="Arial"/>
                <a:sym typeface="Arial"/>
              </a:rPr>
              <a:t>Precision on real telemetry: ours is 0.755 and thresholds are tuned on a corpus we wrote. Fallback is the public AIT Alert Data Set — three sensors, a labelled 9-stage attack — to re-tune against data we did not author.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5"/>
          <p:cNvSpPr/>
          <p:nvPr/>
        </p:nvSpPr>
        <p:spPr>
          <a:xfrm>
            <a:off x="6519672" y="4297680"/>
            <a:ext cx="5468112" cy="1975104"/>
          </a:xfrm>
          <a:prstGeom prst="rect">
            <a:avLst/>
          </a:prstGeom>
          <a:solidFill>
            <a:srgbClr val="FFFFFF"/>
          </a:solidFill>
          <a:ln cap="flat" cmpd="sng" w="28575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76200">
              <a:srgbClr val="111111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5"/>
          <p:cNvSpPr/>
          <p:nvPr/>
        </p:nvSpPr>
        <p:spPr>
          <a:xfrm>
            <a:off x="6793992" y="4572000"/>
            <a:ext cx="384048" cy="384048"/>
          </a:xfrm>
          <a:prstGeom prst="rect">
            <a:avLst/>
          </a:prstGeom>
          <a:solidFill>
            <a:srgbClr val="FF3D1F"/>
          </a:solidFill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p5"/>
          <p:cNvSpPr txBox="1"/>
          <p:nvPr/>
        </p:nvSpPr>
        <p:spPr>
          <a:xfrm>
            <a:off x="6793992" y="4581144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300"/>
              <a:buFont typeface="Arial Black"/>
              <a:buNone/>
            </a:pPr>
            <a:r>
              <a:rPr lang="en-US" sz="130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04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5"/>
          <p:cNvSpPr txBox="1"/>
          <p:nvPr/>
        </p:nvSpPr>
        <p:spPr>
          <a:xfrm>
            <a:off x="7342632" y="4608576"/>
            <a:ext cx="437083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350"/>
              <a:buFont typeface="Arial Black"/>
              <a:buNone/>
            </a:pPr>
            <a:r>
              <a:rPr lang="en-US" sz="135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AFTER THE HACKATHON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5"/>
          <p:cNvSpPr txBox="1"/>
          <p:nvPr/>
        </p:nvSpPr>
        <p:spPr>
          <a:xfrm>
            <a:off x="6793992" y="5166360"/>
            <a:ext cx="4919472" cy="9235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1150"/>
              <a:buFont typeface="Arial"/>
              <a:buNone/>
            </a:pPr>
            <a:r>
              <a:rPr i="1" lang="en-US" sz="1150">
                <a:solidFill>
                  <a:srgbClr val="6E6A5E"/>
                </a:solidFill>
                <a:latin typeface="Arial"/>
                <a:ea typeface="Arial"/>
                <a:cs typeface="Arial"/>
                <a:sym typeface="Arial"/>
              </a:rPr>
              <a:t>Finish the public-dataset adapter, add live connectors, and learn entity rarity from an organisation's own baseline rather than from a single corpus.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6"/>
          <p:cNvSpPr/>
          <p:nvPr/>
        </p:nvSpPr>
        <p:spPr>
          <a:xfrm>
            <a:off x="548640" y="274320"/>
            <a:ext cx="292608" cy="292608"/>
          </a:xfrm>
          <a:prstGeom prst="rect">
            <a:avLst/>
          </a:prstGeom>
          <a:noFill/>
          <a:ln cap="flat" cmpd="sng" w="25400">
            <a:solidFill>
              <a:srgbClr val="FAF4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222" name="Google Shape;222;p6"/>
          <p:cNvCxnSpPr/>
          <p:nvPr/>
        </p:nvCxnSpPr>
        <p:spPr>
          <a:xfrm>
            <a:off x="694944" y="274320"/>
            <a:ext cx="0" cy="292608"/>
          </a:xfrm>
          <a:prstGeom prst="straightConnector1">
            <a:avLst/>
          </a:prstGeom>
          <a:noFill/>
          <a:ln cap="flat" cmpd="sng" w="25400">
            <a:solidFill>
              <a:srgbClr val="FAF4E8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23" name="Google Shape;223;p6"/>
          <p:cNvCxnSpPr/>
          <p:nvPr/>
        </p:nvCxnSpPr>
        <p:spPr>
          <a:xfrm>
            <a:off x="694944" y="420624"/>
            <a:ext cx="146304" cy="0"/>
          </a:xfrm>
          <a:prstGeom prst="straightConnector1">
            <a:avLst/>
          </a:prstGeom>
          <a:noFill/>
          <a:ln cap="flat" cmpd="sng" w="25400">
            <a:solidFill>
              <a:srgbClr val="FAF4E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4" name="Google Shape;224;p6"/>
          <p:cNvSpPr txBox="1"/>
          <p:nvPr/>
        </p:nvSpPr>
        <p:spPr>
          <a:xfrm>
            <a:off x="987552" y="329184"/>
            <a:ext cx="38404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AF4E8"/>
              </a:buClr>
              <a:buSzPts val="950"/>
              <a:buFont typeface="Arial"/>
              <a:buNone/>
            </a:pPr>
            <a:r>
              <a:rPr b="1" lang="en-US" sz="950">
                <a:solidFill>
                  <a:srgbClr val="FAF4E8"/>
                </a:solidFill>
                <a:latin typeface="Arial"/>
                <a:ea typeface="Arial"/>
                <a:cs typeface="Arial"/>
                <a:sym typeface="Arial"/>
              </a:rPr>
              <a:t>RECURSION — EDITION II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6"/>
          <p:cNvSpPr/>
          <p:nvPr/>
        </p:nvSpPr>
        <p:spPr>
          <a:xfrm rot="240000">
            <a:off x="10972800" y="237744"/>
            <a:ext cx="621792" cy="621792"/>
          </a:xfrm>
          <a:prstGeom prst="rect">
            <a:avLst/>
          </a:prstGeom>
          <a:solidFill>
            <a:srgbClr val="FF3D1F"/>
          </a:solidFill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63500">
              <a:srgbClr val="111111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6"/>
          <p:cNvSpPr txBox="1"/>
          <p:nvPr/>
        </p:nvSpPr>
        <p:spPr>
          <a:xfrm rot="240000">
            <a:off x="10972800" y="246888"/>
            <a:ext cx="621792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700"/>
              <a:buFont typeface="Arial Black"/>
              <a:buNone/>
            </a:pPr>
            <a:r>
              <a:rPr lang="en-US" sz="170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06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27" name="Google Shape;227;p6"/>
          <p:cNvCxnSpPr/>
          <p:nvPr/>
        </p:nvCxnSpPr>
        <p:spPr>
          <a:xfrm>
            <a:off x="548640" y="6455664"/>
            <a:ext cx="11094415" cy="0"/>
          </a:xfrm>
          <a:prstGeom prst="straightConnector1">
            <a:avLst/>
          </a:prstGeom>
          <a:noFill/>
          <a:ln cap="flat" cmpd="sng" w="28575">
            <a:solidFill>
              <a:srgbClr val="FAF4E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8" name="Google Shape;228;p6"/>
          <p:cNvSpPr txBox="1"/>
          <p:nvPr/>
        </p:nvSpPr>
        <p:spPr>
          <a:xfrm>
            <a:off x="548640" y="6547104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9C4B6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C9C4B6"/>
                </a:solidFill>
                <a:latin typeface="Courier New"/>
                <a:ea typeface="Courier New"/>
                <a:cs typeface="Courier New"/>
                <a:sym typeface="Courier New"/>
              </a:rPr>
              <a:t>TECHNOVIT'S FLAGSHIP HACKATHON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6"/>
          <p:cNvSpPr txBox="1"/>
          <p:nvPr/>
        </p:nvSpPr>
        <p:spPr>
          <a:xfrm>
            <a:off x="8899855" y="6547104"/>
            <a:ext cx="2743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9C4B6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C9C4B6"/>
                </a:solidFill>
                <a:latin typeface="Courier New"/>
                <a:ea typeface="Courier New"/>
                <a:cs typeface="Courier New"/>
                <a:sym typeface="Courier New"/>
              </a:rPr>
              <a:t>FRAME 06 / 09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6"/>
          <p:cNvSpPr txBox="1"/>
          <p:nvPr/>
        </p:nvSpPr>
        <p:spPr>
          <a:xfrm>
            <a:off x="548640" y="932688"/>
            <a:ext cx="96926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AF4E8"/>
              </a:buClr>
              <a:buSzPts val="3000"/>
              <a:buFont typeface="Arial Black"/>
              <a:buNone/>
            </a:pPr>
            <a:r>
              <a:rPr lang="en-US" sz="3000">
                <a:solidFill>
                  <a:srgbClr val="FAF4E8"/>
                </a:solidFill>
                <a:latin typeface="Arial Black"/>
                <a:ea typeface="Arial Black"/>
                <a:cs typeface="Arial Black"/>
                <a:sym typeface="Arial Black"/>
              </a:rPr>
              <a:t>IMPACT METRICS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6"/>
          <p:cNvSpPr txBox="1"/>
          <p:nvPr/>
        </p:nvSpPr>
        <p:spPr>
          <a:xfrm>
            <a:off x="548640" y="1554480"/>
            <a:ext cx="96926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9C4B6"/>
              </a:buClr>
              <a:buSzPts val="1000"/>
              <a:buFont typeface="Courier New"/>
              <a:buNone/>
            </a:pPr>
            <a:r>
              <a:rPr lang="en-US" sz="1000">
                <a:solidFill>
                  <a:srgbClr val="C9C4B6"/>
                </a:solidFill>
                <a:latin typeface="Courier New"/>
                <a:ea typeface="Courier New"/>
                <a:cs typeface="Courier New"/>
                <a:sym typeface="Courier New"/>
              </a:rPr>
              <a:t>show how the figure was measured, an estimate is fine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6"/>
          <p:cNvSpPr txBox="1"/>
          <p:nvPr/>
        </p:nvSpPr>
        <p:spPr>
          <a:xfrm>
            <a:off x="502920" y="2057400"/>
            <a:ext cx="640080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3D1F"/>
              </a:buClr>
              <a:buSzPts val="9200"/>
              <a:buFont typeface="Arial Black"/>
              <a:buNone/>
            </a:pPr>
            <a:r>
              <a:rPr lang="en-US" sz="9200">
                <a:solidFill>
                  <a:srgbClr val="FF3D1F"/>
                </a:solidFill>
                <a:latin typeface="Arial Black"/>
                <a:ea typeface="Arial Black"/>
                <a:cs typeface="Arial Black"/>
                <a:sym typeface="Arial Black"/>
              </a:rPr>
              <a:t>98%</a:t>
            </a:r>
            <a:endParaRPr sz="9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6"/>
          <p:cNvSpPr txBox="1"/>
          <p:nvPr/>
        </p:nvSpPr>
        <p:spPr>
          <a:xfrm>
            <a:off x="566928" y="3822192"/>
            <a:ext cx="6035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9C4B6"/>
              </a:buClr>
              <a:buSzPts val="1150"/>
              <a:buFont typeface="Courier New"/>
              <a:buNone/>
            </a:pPr>
            <a:r>
              <a:rPr lang="en-US" sz="1150">
                <a:solidFill>
                  <a:srgbClr val="C9C4B6"/>
                </a:solidFill>
                <a:latin typeface="Courier New"/>
                <a:ea typeface="Courier New"/>
                <a:cs typeface="Courier New"/>
                <a:sym typeface="Courier New"/>
              </a:rPr>
              <a:t>fewer items to open — 938 alerts became 17 cases, with every attack stage preserved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6"/>
          <p:cNvSpPr/>
          <p:nvPr/>
        </p:nvSpPr>
        <p:spPr>
          <a:xfrm>
            <a:off x="548640" y="4370832"/>
            <a:ext cx="6172200" cy="1664208"/>
          </a:xfrm>
          <a:prstGeom prst="rect">
            <a:avLst/>
          </a:prstGeom>
          <a:solidFill>
            <a:srgbClr val="FFFFFF"/>
          </a:solidFill>
          <a:ln cap="flat" cmpd="sng" w="28575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88900">
              <a:srgbClr val="FF3D1F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5" name="Google Shape;235;p6"/>
          <p:cNvSpPr txBox="1"/>
          <p:nvPr/>
        </p:nvSpPr>
        <p:spPr>
          <a:xfrm>
            <a:off x="868680" y="4645152"/>
            <a:ext cx="36576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950"/>
              <a:buFont typeface="Arial"/>
              <a:buNone/>
            </a:pPr>
            <a:r>
              <a:rPr b="1" lang="en-US" sz="950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HOW IT WAS MEASURED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6"/>
          <p:cNvSpPr txBox="1"/>
          <p:nvPr/>
        </p:nvSpPr>
        <p:spPr>
          <a:xfrm>
            <a:off x="868680" y="4937760"/>
            <a:ext cx="55321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1200"/>
              <a:buFont typeface="Arial"/>
              <a:buNone/>
            </a:pPr>
            <a:r>
              <a:rPr i="1" lang="en-US" sz="1200">
                <a:solidFill>
                  <a:srgbClr val="6E6A5E"/>
                </a:solidFill>
                <a:latin typeface="Arial"/>
                <a:ea typeface="Arial"/>
                <a:cs typeface="Arial"/>
                <a:sym typeface="Arial"/>
              </a:rPr>
              <a:t>938-alert corpus with a labelled 9-stage intrusion. Cases = incidents plus any lone high-severity observation: 17. Recall 1.00 and zero evidence-erasing suppressions confirm the reduction did not come from discarding anything.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6"/>
          <p:cNvSpPr/>
          <p:nvPr/>
        </p:nvSpPr>
        <p:spPr>
          <a:xfrm>
            <a:off x="7269480" y="1298448"/>
            <a:ext cx="4370832" cy="1152144"/>
          </a:xfrm>
          <a:prstGeom prst="rect">
            <a:avLst/>
          </a:prstGeom>
          <a:solidFill>
            <a:srgbClr val="FFFFFF"/>
          </a:solidFill>
          <a:ln cap="flat" cmpd="sng" w="28575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63500">
              <a:srgbClr val="FF3D1F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6"/>
          <p:cNvSpPr/>
          <p:nvPr/>
        </p:nvSpPr>
        <p:spPr>
          <a:xfrm>
            <a:off x="7488936" y="1499616"/>
            <a:ext cx="347472" cy="347472"/>
          </a:xfrm>
          <a:prstGeom prst="rect">
            <a:avLst/>
          </a:prstGeom>
          <a:solidFill>
            <a:srgbClr val="FF3D1F"/>
          </a:solidFill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p6"/>
          <p:cNvSpPr txBox="1"/>
          <p:nvPr/>
        </p:nvSpPr>
        <p:spPr>
          <a:xfrm>
            <a:off x="7488936" y="150876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300"/>
              <a:buFont typeface="Arial Black"/>
              <a:buNone/>
            </a:pPr>
            <a:r>
              <a:rPr lang="en-US" sz="130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01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6"/>
          <p:cNvSpPr txBox="1"/>
          <p:nvPr/>
        </p:nvSpPr>
        <p:spPr>
          <a:xfrm>
            <a:off x="7964424" y="1463040"/>
            <a:ext cx="345643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050"/>
              <a:buFont typeface="Arial Black"/>
              <a:buNone/>
            </a:pPr>
            <a:r>
              <a:rPr lang="en-US" sz="105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WHAT MEASURABLY IMPROVES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6"/>
          <p:cNvSpPr txBox="1"/>
          <p:nvPr/>
        </p:nvSpPr>
        <p:spPr>
          <a:xfrm>
            <a:off x="7488936" y="1993392"/>
            <a:ext cx="3931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1000"/>
              <a:buFont typeface="Arial"/>
              <a:buNone/>
            </a:pPr>
            <a:r>
              <a:rPr i="1" lang="en-US" sz="1000">
                <a:solidFill>
                  <a:srgbClr val="6E6A5E"/>
                </a:solidFill>
                <a:latin typeface="Arial"/>
                <a:ea typeface="Arial"/>
                <a:cs typeface="Arial"/>
                <a:sym typeface="Arial"/>
              </a:rPr>
              <a:t>Analysts open 17 cases instead of 938 rows, with the root cause named rather than hunted.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6"/>
          <p:cNvSpPr/>
          <p:nvPr/>
        </p:nvSpPr>
        <p:spPr>
          <a:xfrm>
            <a:off x="7269480" y="2569464"/>
            <a:ext cx="4370832" cy="1152144"/>
          </a:xfrm>
          <a:prstGeom prst="rect">
            <a:avLst/>
          </a:prstGeom>
          <a:solidFill>
            <a:srgbClr val="FFFFFF"/>
          </a:solidFill>
          <a:ln cap="flat" cmpd="sng" w="28575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63500">
              <a:srgbClr val="FF3D1F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" name="Google Shape;243;p6"/>
          <p:cNvSpPr/>
          <p:nvPr/>
        </p:nvSpPr>
        <p:spPr>
          <a:xfrm>
            <a:off x="7488936" y="2770632"/>
            <a:ext cx="347472" cy="347472"/>
          </a:xfrm>
          <a:prstGeom prst="rect">
            <a:avLst/>
          </a:prstGeom>
          <a:solidFill>
            <a:srgbClr val="111111"/>
          </a:solidFill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4" name="Google Shape;244;p6"/>
          <p:cNvSpPr txBox="1"/>
          <p:nvPr/>
        </p:nvSpPr>
        <p:spPr>
          <a:xfrm>
            <a:off x="7488936" y="2779776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 Black"/>
              <a:buNone/>
            </a:pPr>
            <a:r>
              <a:rPr lang="en-US" sz="1300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02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6"/>
          <p:cNvSpPr txBox="1"/>
          <p:nvPr/>
        </p:nvSpPr>
        <p:spPr>
          <a:xfrm>
            <a:off x="7964424" y="2734056"/>
            <a:ext cx="345643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050"/>
              <a:buFont typeface="Arial Black"/>
              <a:buNone/>
            </a:pPr>
            <a:r>
              <a:rPr lang="en-US" sz="105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WHO ELSE COULD USE IT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6"/>
          <p:cNvSpPr txBox="1"/>
          <p:nvPr/>
        </p:nvSpPr>
        <p:spPr>
          <a:xfrm>
            <a:off x="7488936" y="3264408"/>
            <a:ext cx="3931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1000"/>
              <a:buFont typeface="Arial"/>
              <a:buNone/>
            </a:pPr>
            <a:r>
              <a:rPr i="1" lang="en-US" sz="1000">
                <a:solidFill>
                  <a:srgbClr val="6E6A5E"/>
                </a:solidFill>
                <a:latin typeface="Arial"/>
                <a:ea typeface="Arial"/>
                <a:cs typeface="Arial"/>
                <a:sym typeface="Arial"/>
              </a:rPr>
              <a:t>MSSPs triaging many tenants, cloud-security teams, and regulated environments that must justify any automated action.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6"/>
          <p:cNvSpPr/>
          <p:nvPr/>
        </p:nvSpPr>
        <p:spPr>
          <a:xfrm>
            <a:off x="7269480" y="3840480"/>
            <a:ext cx="4370832" cy="1152144"/>
          </a:xfrm>
          <a:prstGeom prst="rect">
            <a:avLst/>
          </a:prstGeom>
          <a:solidFill>
            <a:srgbClr val="FFFFFF"/>
          </a:solidFill>
          <a:ln cap="flat" cmpd="sng" w="28575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63500">
              <a:srgbClr val="FF3D1F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8" name="Google Shape;248;p6"/>
          <p:cNvSpPr/>
          <p:nvPr/>
        </p:nvSpPr>
        <p:spPr>
          <a:xfrm>
            <a:off x="7488936" y="4041648"/>
            <a:ext cx="347472" cy="347472"/>
          </a:xfrm>
          <a:prstGeom prst="rect">
            <a:avLst/>
          </a:prstGeom>
          <a:solidFill>
            <a:srgbClr val="FF3D1F"/>
          </a:solidFill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9" name="Google Shape;249;p6"/>
          <p:cNvSpPr txBox="1"/>
          <p:nvPr/>
        </p:nvSpPr>
        <p:spPr>
          <a:xfrm>
            <a:off x="7488936" y="4050792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300"/>
              <a:buFont typeface="Arial Black"/>
              <a:buNone/>
            </a:pPr>
            <a:r>
              <a:rPr lang="en-US" sz="130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03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6"/>
          <p:cNvSpPr txBox="1"/>
          <p:nvPr/>
        </p:nvSpPr>
        <p:spPr>
          <a:xfrm>
            <a:off x="7964424" y="4005072"/>
            <a:ext cx="345643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050"/>
              <a:buFont typeface="Arial Black"/>
              <a:buNone/>
            </a:pPr>
            <a:r>
              <a:rPr lang="en-US" sz="105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WHAT COULD GO WRONG / BE MISUSED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6"/>
          <p:cNvSpPr txBox="1"/>
          <p:nvPr/>
        </p:nvSpPr>
        <p:spPr>
          <a:xfrm>
            <a:off x="7488936" y="4535424"/>
            <a:ext cx="3931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1000"/>
              <a:buFont typeface="Arial"/>
              <a:buNone/>
            </a:pPr>
            <a:r>
              <a:rPr i="1" lang="en-US" sz="1000">
                <a:solidFill>
                  <a:srgbClr val="6E6A5E"/>
                </a:solidFill>
                <a:latin typeface="Arial"/>
                <a:ea typeface="Arial"/>
                <a:cs typeface="Arial"/>
                <a:sym typeface="Arial"/>
              </a:rPr>
              <a:t>Over-trust. A confident-looking graph could persuade an analyst to skip verification, and a wrong merge hides a real alert.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6"/>
          <p:cNvSpPr/>
          <p:nvPr/>
        </p:nvSpPr>
        <p:spPr>
          <a:xfrm>
            <a:off x="7269480" y="5111496"/>
            <a:ext cx="4370832" cy="1152144"/>
          </a:xfrm>
          <a:prstGeom prst="rect">
            <a:avLst/>
          </a:prstGeom>
          <a:solidFill>
            <a:srgbClr val="FFFFFF"/>
          </a:solidFill>
          <a:ln cap="flat" cmpd="sng" w="28575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63500">
              <a:srgbClr val="FF3D1F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6"/>
          <p:cNvSpPr/>
          <p:nvPr/>
        </p:nvSpPr>
        <p:spPr>
          <a:xfrm>
            <a:off x="7488936" y="5312664"/>
            <a:ext cx="347472" cy="347472"/>
          </a:xfrm>
          <a:prstGeom prst="rect">
            <a:avLst/>
          </a:prstGeom>
          <a:solidFill>
            <a:srgbClr val="FF3D1F"/>
          </a:solidFill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4" name="Google Shape;254;p6"/>
          <p:cNvSpPr txBox="1"/>
          <p:nvPr/>
        </p:nvSpPr>
        <p:spPr>
          <a:xfrm>
            <a:off x="7488936" y="5321808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300"/>
              <a:buFont typeface="Arial Black"/>
              <a:buNone/>
            </a:pPr>
            <a:r>
              <a:rPr lang="en-US" sz="130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04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6"/>
          <p:cNvSpPr txBox="1"/>
          <p:nvPr/>
        </p:nvSpPr>
        <p:spPr>
          <a:xfrm>
            <a:off x="7964424" y="5276088"/>
            <a:ext cx="345643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050"/>
              <a:buFont typeface="Arial Black"/>
              <a:buNone/>
            </a:pPr>
            <a:r>
              <a:rPr lang="en-US" sz="105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HOW YOU'D HANDLE THAT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6"/>
          <p:cNvSpPr txBox="1"/>
          <p:nvPr/>
        </p:nvSpPr>
        <p:spPr>
          <a:xfrm>
            <a:off x="7488936" y="5806440"/>
            <a:ext cx="3931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1000"/>
              <a:buFont typeface="Arial"/>
              <a:buNone/>
            </a:pPr>
            <a:r>
              <a:rPr i="1" lang="en-US" sz="1000">
                <a:solidFill>
                  <a:srgbClr val="6E6A5E"/>
                </a:solidFill>
                <a:latin typeface="Arial"/>
                <a:ea typeface="Arial"/>
                <a:cs typeface="Arial"/>
                <a:sym typeface="Arial"/>
              </a:rPr>
              <a:t>Nothing is deleted: every suppression is reversible and states its grounds. Destructive actions stay behind a human.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4E8"/>
        </a:solidFill>
      </p:bgPr>
    </p:bg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7"/>
          <p:cNvSpPr/>
          <p:nvPr/>
        </p:nvSpPr>
        <p:spPr>
          <a:xfrm>
            <a:off x="548640" y="274320"/>
            <a:ext cx="292608" cy="292608"/>
          </a:xfrm>
          <a:prstGeom prst="rect">
            <a:avLst/>
          </a:prstGeom>
          <a:noFill/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263" name="Google Shape;263;p7"/>
          <p:cNvCxnSpPr/>
          <p:nvPr/>
        </p:nvCxnSpPr>
        <p:spPr>
          <a:xfrm>
            <a:off x="694944" y="274320"/>
            <a:ext cx="0" cy="292608"/>
          </a:xfrm>
          <a:prstGeom prst="straightConnector1">
            <a:avLst/>
          </a:prstGeom>
          <a:noFill/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64" name="Google Shape;264;p7"/>
          <p:cNvCxnSpPr/>
          <p:nvPr/>
        </p:nvCxnSpPr>
        <p:spPr>
          <a:xfrm>
            <a:off x="694944" y="420624"/>
            <a:ext cx="146304" cy="0"/>
          </a:xfrm>
          <a:prstGeom prst="straightConnector1">
            <a:avLst/>
          </a:prstGeom>
          <a:noFill/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5" name="Google Shape;265;p7"/>
          <p:cNvSpPr txBox="1"/>
          <p:nvPr/>
        </p:nvSpPr>
        <p:spPr>
          <a:xfrm>
            <a:off x="987552" y="329184"/>
            <a:ext cx="38404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950"/>
              <a:buFont typeface="Arial"/>
              <a:buNone/>
            </a:pPr>
            <a:r>
              <a:rPr b="1" lang="en-US" sz="950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RECURSION — EDITION II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7"/>
          <p:cNvSpPr/>
          <p:nvPr/>
        </p:nvSpPr>
        <p:spPr>
          <a:xfrm rot="240000">
            <a:off x="10972800" y="237744"/>
            <a:ext cx="621792" cy="621792"/>
          </a:xfrm>
          <a:prstGeom prst="rect">
            <a:avLst/>
          </a:prstGeom>
          <a:solidFill>
            <a:srgbClr val="FF3D1F"/>
          </a:solidFill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63500">
              <a:srgbClr val="111111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7" name="Google Shape;267;p7"/>
          <p:cNvSpPr txBox="1"/>
          <p:nvPr/>
        </p:nvSpPr>
        <p:spPr>
          <a:xfrm rot="240000">
            <a:off x="10972800" y="246888"/>
            <a:ext cx="621792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700"/>
              <a:buFont typeface="Arial Black"/>
              <a:buNone/>
            </a:pPr>
            <a:r>
              <a:rPr lang="en-US" sz="170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07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68" name="Google Shape;268;p7"/>
          <p:cNvCxnSpPr/>
          <p:nvPr/>
        </p:nvCxnSpPr>
        <p:spPr>
          <a:xfrm>
            <a:off x="548640" y="6455664"/>
            <a:ext cx="11094415" cy="0"/>
          </a:xfrm>
          <a:prstGeom prst="straightConnector1">
            <a:avLst/>
          </a:prstGeom>
          <a:noFill/>
          <a:ln cap="flat" cmpd="sng" w="28575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9" name="Google Shape;269;p7"/>
          <p:cNvSpPr txBox="1"/>
          <p:nvPr/>
        </p:nvSpPr>
        <p:spPr>
          <a:xfrm>
            <a:off x="548640" y="6547104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6E6A5E"/>
                </a:solidFill>
                <a:latin typeface="Courier New"/>
                <a:ea typeface="Courier New"/>
                <a:cs typeface="Courier New"/>
                <a:sym typeface="Courier New"/>
              </a:rPr>
              <a:t>TECHNOVIT'S FLAGSHIP HACKATHON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7"/>
          <p:cNvSpPr txBox="1"/>
          <p:nvPr/>
        </p:nvSpPr>
        <p:spPr>
          <a:xfrm>
            <a:off x="8899855" y="6547104"/>
            <a:ext cx="2743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6E6A5E"/>
                </a:solidFill>
                <a:latin typeface="Courier New"/>
                <a:ea typeface="Courier New"/>
                <a:cs typeface="Courier New"/>
                <a:sym typeface="Courier New"/>
              </a:rPr>
              <a:t>FRAME 07 / 09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7"/>
          <p:cNvSpPr txBox="1"/>
          <p:nvPr/>
        </p:nvSpPr>
        <p:spPr>
          <a:xfrm>
            <a:off x="548640" y="932688"/>
            <a:ext cx="96926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3000"/>
              <a:buFont typeface="Arial Black"/>
              <a:buNone/>
            </a:pPr>
            <a:r>
              <a:rPr lang="en-US" sz="300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REFERENCES &amp; ATTRIBUTION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7"/>
          <p:cNvSpPr txBox="1"/>
          <p:nvPr/>
        </p:nvSpPr>
        <p:spPr>
          <a:xfrm>
            <a:off x="548640" y="1554480"/>
            <a:ext cx="96926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1000"/>
              <a:buFont typeface="Courier New"/>
              <a:buNone/>
            </a:pPr>
            <a:r>
              <a:rPr lang="en-US" sz="1000">
                <a:solidFill>
                  <a:srgbClr val="6E6A5E"/>
                </a:solidFill>
                <a:latin typeface="Courier New"/>
                <a:ea typeface="Courier New"/>
                <a:cs typeface="Courier New"/>
                <a:sym typeface="Courier New"/>
              </a:rPr>
              <a:t>one source per line · uncredited work is disqualifying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7"/>
          <p:cNvSpPr txBox="1"/>
          <p:nvPr/>
        </p:nvSpPr>
        <p:spPr>
          <a:xfrm>
            <a:off x="548640" y="2148840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6E6A5E"/>
                </a:solidFill>
                <a:latin typeface="Courier New"/>
                <a:ea typeface="Courier New"/>
                <a:cs typeface="Courier New"/>
                <a:sym typeface="Courier New"/>
              </a:rPr>
              <a:t>TABLE 07-A — SOURCES &amp; LICENCES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7"/>
          <p:cNvSpPr/>
          <p:nvPr/>
        </p:nvSpPr>
        <p:spPr>
          <a:xfrm>
            <a:off x="630936" y="2478024"/>
            <a:ext cx="11091672" cy="3346704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aphicFrame>
        <p:nvGraphicFramePr>
          <p:cNvPr id="275" name="Google Shape;275;p7"/>
          <p:cNvGraphicFramePr/>
          <p:nvPr/>
        </p:nvGraphicFramePr>
        <p:xfrm>
          <a:off x="548640" y="239572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{D47496C2-0CEE-4B0A-BE6E-AE1266184CF1}</a:tableStyleId>
              </a:tblPr>
              <a:tblGrid>
                <a:gridCol w="1554475"/>
                <a:gridCol w="3291850"/>
                <a:gridCol w="2651750"/>
                <a:gridCol w="2103125"/>
                <a:gridCol w="1490475"/>
              </a:tblGrid>
              <a:tr h="4206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AF4E8"/>
                        </a:buClr>
                        <a:buSzPts val="900"/>
                        <a:buFont typeface="Arial Black"/>
                        <a:buNone/>
                      </a:pPr>
                      <a:r>
                        <a:rPr lang="en-US" sz="900" u="none" cap="none" strike="noStrike">
                          <a:solidFill>
                            <a:srgbClr val="FAF4E8"/>
                          </a:solidFill>
                          <a:latin typeface="Arial Black"/>
                          <a:ea typeface="Arial Black"/>
                          <a:cs typeface="Arial Black"/>
                          <a:sym typeface="Arial Black"/>
                        </a:rPr>
                        <a:t>TYPE</a:t>
                      </a:r>
                      <a:endParaRPr sz="900" u="none" cap="none" strike="noStrike">
                        <a:latin typeface="Arial Black"/>
                        <a:ea typeface="Arial Black"/>
                        <a:cs typeface="Arial Black"/>
                        <a:sym typeface="Arial Black"/>
                      </a:endParaRPr>
                    </a:p>
                  </a:txBody>
                  <a:tcPr marT="45725" marB="4572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AF4E8"/>
                        </a:buClr>
                        <a:buSzPts val="900"/>
                        <a:buFont typeface="Arial Black"/>
                        <a:buNone/>
                      </a:pPr>
                      <a:r>
                        <a:rPr lang="en-US" sz="900" u="none" cap="none" strike="noStrike">
                          <a:solidFill>
                            <a:srgbClr val="FAF4E8"/>
                          </a:solidFill>
                          <a:latin typeface="Arial Black"/>
                          <a:ea typeface="Arial Black"/>
                          <a:cs typeface="Arial Black"/>
                          <a:sym typeface="Arial Black"/>
                        </a:rPr>
                        <a:t>SOURCE (AUTHOR, TITLE, YEAR)</a:t>
                      </a:r>
                      <a:endParaRPr sz="900" u="none" cap="none" strike="noStrike">
                        <a:latin typeface="Arial Black"/>
                        <a:ea typeface="Arial Black"/>
                        <a:cs typeface="Arial Black"/>
                        <a:sym typeface="Arial Black"/>
                      </a:endParaRPr>
                    </a:p>
                  </a:txBody>
                  <a:tcPr marT="45725" marB="4572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AF4E8"/>
                        </a:buClr>
                        <a:buSzPts val="900"/>
                        <a:buFont typeface="Arial Black"/>
                        <a:buNone/>
                      </a:pPr>
                      <a:r>
                        <a:rPr lang="en-US" sz="900" u="none" cap="none" strike="noStrike">
                          <a:solidFill>
                            <a:srgbClr val="FAF4E8"/>
                          </a:solidFill>
                          <a:latin typeface="Arial Black"/>
                          <a:ea typeface="Arial Black"/>
                          <a:cs typeface="Arial Black"/>
                          <a:sym typeface="Arial Black"/>
                        </a:rPr>
                        <a:t>WHAT IT GAVE YOU</a:t>
                      </a:r>
                      <a:endParaRPr sz="900" u="none" cap="none" strike="noStrike">
                        <a:latin typeface="Arial Black"/>
                        <a:ea typeface="Arial Black"/>
                        <a:cs typeface="Arial Black"/>
                        <a:sym typeface="Arial Black"/>
                      </a:endParaRPr>
                    </a:p>
                  </a:txBody>
                  <a:tcPr marT="45725" marB="4572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AF4E8"/>
                        </a:buClr>
                        <a:buSzPts val="900"/>
                        <a:buFont typeface="Arial Black"/>
                        <a:buNone/>
                      </a:pPr>
                      <a:r>
                        <a:rPr lang="en-US" sz="900" u="none" cap="none" strike="noStrike">
                          <a:solidFill>
                            <a:srgbClr val="FAF4E8"/>
                          </a:solidFill>
                          <a:latin typeface="Arial Black"/>
                          <a:ea typeface="Arial Black"/>
                          <a:cs typeface="Arial Black"/>
                          <a:sym typeface="Arial Black"/>
                        </a:rPr>
                        <a:t>BORROWED / YOURS</a:t>
                      </a:r>
                      <a:endParaRPr sz="900" u="none" cap="none" strike="noStrike">
                        <a:latin typeface="Arial Black"/>
                        <a:ea typeface="Arial Black"/>
                        <a:cs typeface="Arial Black"/>
                        <a:sym typeface="Arial Black"/>
                      </a:endParaRPr>
                    </a:p>
                  </a:txBody>
                  <a:tcPr marT="45725" marB="4572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AF4E8"/>
                        </a:buClr>
                        <a:buSzPts val="900"/>
                        <a:buFont typeface="Arial Black"/>
                        <a:buNone/>
                      </a:pPr>
                      <a:r>
                        <a:rPr lang="en-US" sz="900" u="none" cap="none" strike="noStrike">
                          <a:solidFill>
                            <a:srgbClr val="FAF4E8"/>
                          </a:solidFill>
                          <a:latin typeface="Arial Black"/>
                          <a:ea typeface="Arial Black"/>
                          <a:cs typeface="Arial Black"/>
                          <a:sym typeface="Arial Black"/>
                        </a:rPr>
                        <a:t>LICENCE</a:t>
                      </a:r>
                      <a:endParaRPr sz="900" u="none" cap="none" strike="noStrike">
                        <a:latin typeface="Arial Black"/>
                        <a:ea typeface="Arial Black"/>
                        <a:cs typeface="Arial Black"/>
                        <a:sym typeface="Arial Black"/>
                      </a:endParaRPr>
                    </a:p>
                  </a:txBody>
                  <a:tcPr marT="45725" marB="4572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111"/>
                    </a:solidFill>
                  </a:tcPr>
                </a:tc>
              </a:tr>
              <a:tr h="5852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1"/>
                        </a:buClr>
                        <a:buSzPts val="1000"/>
                        <a:buFont typeface="Arial Black"/>
                        <a:buNone/>
                      </a:pPr>
                      <a:r>
                        <a:rPr lang="en-US" sz="1000" u="none" cap="none" strike="noStrike">
                          <a:solidFill>
                            <a:srgbClr val="111111"/>
                          </a:solidFill>
                          <a:latin typeface="Arial Black"/>
                          <a:ea typeface="Arial Black"/>
                          <a:cs typeface="Arial Black"/>
                          <a:sym typeface="Arial Black"/>
                        </a:rPr>
                        <a:t>Paper</a:t>
                      </a:r>
                      <a:endParaRPr sz="1000" u="none" cap="none" strike="noStrike">
                        <a:latin typeface="Arial Black"/>
                        <a:ea typeface="Arial Black"/>
                        <a:cs typeface="Arial Black"/>
                        <a:sym typeface="Arial Black"/>
                      </a:endParaRPr>
                    </a:p>
                  </a:txBody>
                  <a:tcPr marT="36575" marB="3657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A5E"/>
                        </a:buClr>
                        <a:buSzPts val="1050"/>
                        <a:buFont typeface="Arial"/>
                        <a:buNone/>
                      </a:pPr>
                      <a:r>
                        <a:rPr i="1" lang="en-US" sz="1050" u="none" cap="none" strike="noStrike">
                          <a:solidFill>
                            <a:srgbClr val="6E6A5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Landauer, Skopik, Wurzenberger — “Introducing a New Alert Data Set for Multi-Step Attack Analysis”, CSET ’24</a:t>
                      </a:r>
                      <a:endParaRPr sz="10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575" marB="3657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A5E"/>
                        </a:buClr>
                        <a:buSzPts val="1050"/>
                        <a:buFont typeface="Arial"/>
                        <a:buNone/>
                      </a:pPr>
                      <a:r>
                        <a:rPr i="1" lang="en-US" sz="1050" u="none" cap="none" strike="noStrike">
                          <a:solidFill>
                            <a:srgbClr val="6E6A5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Alert-level (not log-level) corpus design and the multi-step attack framing</a:t>
                      </a:r>
                      <a:endParaRPr sz="10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575" marB="3657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A5E"/>
                        </a:buClr>
                        <a:buSzPts val="1050"/>
                        <a:buFont typeface="Arial"/>
                        <a:buNone/>
                      </a:pPr>
                      <a:r>
                        <a:rPr i="1" lang="en-US" sz="1050" u="none" cap="none" strike="noStrike">
                          <a:solidFill>
                            <a:srgbClr val="6E6A5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borrowed — cited, no code used</a:t>
                      </a:r>
                      <a:endParaRPr sz="10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575" marB="3657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A5E"/>
                        </a:buClr>
                        <a:buSzPts val="1050"/>
                        <a:buFont typeface="Arial"/>
                        <a:buNone/>
                      </a:pPr>
                      <a:r>
                        <a:rPr i="1" lang="en-US" sz="1050" u="none" cap="none" strike="noStrike">
                          <a:solidFill>
                            <a:srgbClr val="6E6A5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ACM, cited</a:t>
                      </a:r>
                      <a:endParaRPr sz="10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575" marB="3657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852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1"/>
                        </a:buClr>
                        <a:buSzPts val="1000"/>
                        <a:buFont typeface="Arial Black"/>
                        <a:buNone/>
                      </a:pPr>
                      <a:r>
                        <a:rPr lang="en-US" sz="1000" u="none" cap="none" strike="noStrike">
                          <a:solidFill>
                            <a:srgbClr val="111111"/>
                          </a:solidFill>
                          <a:latin typeface="Arial Black"/>
                          <a:ea typeface="Arial Black"/>
                          <a:cs typeface="Arial Black"/>
                          <a:sym typeface="Arial Black"/>
                        </a:rPr>
                        <a:t>Repository</a:t>
                      </a:r>
                      <a:endParaRPr sz="1000" u="none" cap="none" strike="noStrike">
                        <a:latin typeface="Arial Black"/>
                        <a:ea typeface="Arial Black"/>
                        <a:cs typeface="Arial Black"/>
                        <a:sym typeface="Arial Black"/>
                      </a:endParaRPr>
                    </a:p>
                  </a:txBody>
                  <a:tcPr marT="36575" marB="3657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A5E"/>
                        </a:buClr>
                        <a:buSzPts val="1050"/>
                        <a:buFont typeface="Arial"/>
                        <a:buNone/>
                      </a:pPr>
                      <a:r>
                        <a:rPr i="1" lang="en-US" sz="1050" u="none" cap="none" strike="noStrike">
                          <a:solidFill>
                            <a:srgbClr val="6E6A5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Ventriloquist — provenance gateway (our own EDGE NOVA’26 project)</a:t>
                      </a:r>
                      <a:endParaRPr sz="10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575" marB="3657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A5E"/>
                        </a:buClr>
                        <a:buSzPts val="1050"/>
                        <a:buFont typeface="Arial"/>
                        <a:buNone/>
                      </a:pPr>
                      <a:r>
                        <a:rPr i="1" lang="en-US" sz="1050" u="none" cap="none" strike="noStrike">
                          <a:solidFill>
                            <a:srgbClr val="6E6A5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Lineage closure, blast-radius, hash-chained audit log, policy engine</a:t>
                      </a:r>
                      <a:endParaRPr sz="10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575" marB="3657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A5E"/>
                        </a:buClr>
                        <a:buSzPts val="1050"/>
                        <a:buFont typeface="Arial"/>
                        <a:buNone/>
                      </a:pPr>
                      <a:r>
                        <a:rPr i="1" lang="en-US" sz="1050" u="none" cap="none" strike="noStrike">
                          <a:solidFill>
                            <a:srgbClr val="6E6A5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yours</a:t>
                      </a:r>
                      <a:endParaRPr sz="10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575" marB="3657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A5E"/>
                        </a:buClr>
                        <a:buSzPts val="1050"/>
                        <a:buFont typeface="Arial"/>
                        <a:buNone/>
                      </a:pPr>
                      <a:r>
                        <a:rPr i="1" lang="en-US" sz="1050" u="none" cap="none" strike="noStrike">
                          <a:solidFill>
                            <a:srgbClr val="6E6A5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 work, vendored</a:t>
                      </a:r>
                      <a:endParaRPr sz="10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575" marB="3657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852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1"/>
                        </a:buClr>
                        <a:buSzPts val="1000"/>
                        <a:buFont typeface="Arial Black"/>
                        <a:buNone/>
                      </a:pPr>
                      <a:r>
                        <a:rPr lang="en-US" sz="1000" u="none" cap="none" strike="noStrike">
                          <a:solidFill>
                            <a:srgbClr val="111111"/>
                          </a:solidFill>
                          <a:latin typeface="Arial Black"/>
                          <a:ea typeface="Arial Black"/>
                          <a:cs typeface="Arial Black"/>
                          <a:sym typeface="Arial Black"/>
                        </a:rPr>
                        <a:t>Documentation</a:t>
                      </a:r>
                      <a:endParaRPr sz="1000" u="none" cap="none" strike="noStrike">
                        <a:latin typeface="Arial Black"/>
                        <a:ea typeface="Arial Black"/>
                        <a:cs typeface="Arial Black"/>
                        <a:sym typeface="Arial Black"/>
                      </a:endParaRPr>
                    </a:p>
                  </a:txBody>
                  <a:tcPr marT="36575" marB="3657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A5E"/>
                        </a:buClr>
                        <a:buSzPts val="1050"/>
                        <a:buFont typeface="Arial"/>
                        <a:buNone/>
                      </a:pPr>
                      <a:r>
                        <a:rPr i="1" lang="en-US" sz="1050" u="none" cap="none" strike="noStrike">
                          <a:solidFill>
                            <a:srgbClr val="6E6A5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FastAPI · Starlette · Uvicorn · PyYAML</a:t>
                      </a:r>
                      <a:endParaRPr sz="10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575" marB="3657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A5E"/>
                        </a:buClr>
                        <a:buSzPts val="1050"/>
                        <a:buFont typeface="Arial"/>
                        <a:buNone/>
                      </a:pPr>
                      <a:r>
                        <a:rPr i="1" lang="en-US" sz="1050" u="none" cap="none" strike="noStrike">
                          <a:solidFill>
                            <a:srgbClr val="6E6A5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HTTP surface for the console and YAML policy loading</a:t>
                      </a:r>
                      <a:endParaRPr sz="10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575" marB="3657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A5E"/>
                        </a:buClr>
                        <a:buSzPts val="1050"/>
                        <a:buFont typeface="Arial"/>
                        <a:buNone/>
                      </a:pPr>
                      <a:r>
                        <a:rPr i="1" lang="en-US" sz="1050" u="none" cap="none" strike="noStrike">
                          <a:solidFill>
                            <a:srgbClr val="6E6A5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borrowed</a:t>
                      </a:r>
                      <a:endParaRPr sz="10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575" marB="3657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A5E"/>
                        </a:buClr>
                        <a:buSzPts val="1050"/>
                        <a:buFont typeface="Arial"/>
                        <a:buNone/>
                      </a:pPr>
                      <a:r>
                        <a:rPr i="1" lang="en-US" sz="1050" u="none" cap="none" strike="noStrike">
                          <a:solidFill>
                            <a:srgbClr val="6E6A5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MIT / BSD-3</a:t>
                      </a:r>
                      <a:endParaRPr sz="10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575" marB="3657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852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1"/>
                        </a:buClr>
                        <a:buSzPts val="1000"/>
                        <a:buFont typeface="Arial Black"/>
                        <a:buNone/>
                      </a:pPr>
                      <a:r>
                        <a:rPr lang="en-US" sz="1000" u="none" cap="none" strike="noStrike">
                          <a:solidFill>
                            <a:srgbClr val="111111"/>
                          </a:solidFill>
                          <a:latin typeface="Arial Black"/>
                          <a:ea typeface="Arial Black"/>
                          <a:cs typeface="Arial Black"/>
                          <a:sym typeface="Arial Black"/>
                        </a:rPr>
                        <a:t>Dataset</a:t>
                      </a:r>
                      <a:endParaRPr sz="1000" u="none" cap="none" strike="noStrike">
                        <a:latin typeface="Arial Black"/>
                        <a:ea typeface="Arial Black"/>
                        <a:cs typeface="Arial Black"/>
                        <a:sym typeface="Arial Black"/>
                      </a:endParaRPr>
                    </a:p>
                  </a:txBody>
                  <a:tcPr marT="36575" marB="3657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A5E"/>
                        </a:buClr>
                        <a:buSzPts val="1050"/>
                        <a:buFont typeface="Arial"/>
                        <a:buNone/>
                      </a:pPr>
                      <a:r>
                        <a:rPr i="1" lang="en-US" sz="1050" u="none" cap="none" strike="noStrike">
                          <a:solidFill>
                            <a:srgbClr val="6E6A5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AIT Alert Data Set — Zenodo, doi 10.5281/zenodo.8263181</a:t>
                      </a:r>
                      <a:endParaRPr sz="10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575" marB="3657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A5E"/>
                        </a:buClr>
                        <a:buSzPts val="1050"/>
                        <a:buFont typeface="Arial"/>
                        <a:buNone/>
                      </a:pPr>
                      <a:r>
                        <a:rPr i="1" lang="en-US" sz="1050" u="none" cap="none" strike="noStrike">
                          <a:solidFill>
                            <a:srgbClr val="6E6A5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Public multi-sensor labelled alerts; adapter in progress</a:t>
                      </a:r>
                      <a:endParaRPr sz="10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575" marB="3657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A5E"/>
                        </a:buClr>
                        <a:buSzPts val="1050"/>
                        <a:buFont typeface="Arial"/>
                        <a:buNone/>
                      </a:pPr>
                      <a:r>
                        <a:rPr i="1" lang="en-US" sz="1050" u="none" cap="none" strike="noStrike">
                          <a:solidFill>
                            <a:srgbClr val="6E6A5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borrowed</a:t>
                      </a:r>
                      <a:endParaRPr sz="10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575" marB="3657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A5E"/>
                        </a:buClr>
                        <a:buSzPts val="1050"/>
                        <a:buFont typeface="Arial"/>
                        <a:buNone/>
                      </a:pPr>
                      <a:r>
                        <a:rPr i="1" lang="en-US" sz="1050" u="none" cap="none" strike="noStrike">
                          <a:solidFill>
                            <a:srgbClr val="6E6A5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CC-BY-4.0</a:t>
                      </a:r>
                      <a:endParaRPr sz="10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575" marB="3657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852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1"/>
                        </a:buClr>
                        <a:buSzPts val="1000"/>
                        <a:buFont typeface="Arial Black"/>
                        <a:buNone/>
                      </a:pPr>
                      <a:r>
                        <a:rPr lang="en-US" sz="1000" u="none" cap="none" strike="noStrike">
                          <a:solidFill>
                            <a:srgbClr val="111111"/>
                          </a:solidFill>
                          <a:latin typeface="Arial Black"/>
                          <a:ea typeface="Arial Black"/>
                          <a:cs typeface="Arial Black"/>
                          <a:sym typeface="Arial Black"/>
                        </a:rPr>
                        <a:t>Model weights</a:t>
                      </a:r>
                      <a:endParaRPr sz="1000" u="none" cap="none" strike="noStrike">
                        <a:latin typeface="Arial Black"/>
                        <a:ea typeface="Arial Black"/>
                        <a:cs typeface="Arial Black"/>
                        <a:sym typeface="Arial Black"/>
                      </a:endParaRPr>
                    </a:p>
                  </a:txBody>
                  <a:tcPr marT="36575" marB="3657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A5E"/>
                        </a:buClr>
                        <a:buSzPts val="1050"/>
                        <a:buFont typeface="Arial"/>
                        <a:buNone/>
                      </a:pPr>
                      <a:r>
                        <a:rPr i="1" lang="en-US" sz="1050" u="none" cap="none" strike="noStrike">
                          <a:solidFill>
                            <a:srgbClr val="6E6A5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None — no ML model or pretrained weights are used</a:t>
                      </a:r>
                      <a:endParaRPr sz="10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575" marB="3657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A5E"/>
                        </a:buClr>
                        <a:buSzPts val="1050"/>
                        <a:buFont typeface="Arial"/>
                        <a:buNone/>
                      </a:pPr>
                      <a:r>
                        <a:rPr i="1" lang="en-US" sz="1050" u="none" cap="none" strike="noStrike">
                          <a:solidFill>
                            <a:srgbClr val="6E6A5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Correlation is deterministic; there is no inference step to attribute</a:t>
                      </a:r>
                      <a:endParaRPr sz="10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575" marB="3657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A5E"/>
                        </a:buClr>
                        <a:buSzPts val="1050"/>
                        <a:buFont typeface="Arial"/>
                        <a:buNone/>
                      </a:pPr>
                      <a:r>
                        <a:rPr i="1" lang="en-US" sz="1050" u="none" cap="none" strike="noStrike">
                          <a:solidFill>
                            <a:srgbClr val="6E6A5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n/a</a:t>
                      </a:r>
                      <a:endParaRPr sz="10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575" marB="3657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A5E"/>
                        </a:buClr>
                        <a:buSzPts val="1050"/>
                        <a:buFont typeface="Arial"/>
                        <a:buNone/>
                      </a:pPr>
                      <a:r>
                        <a:rPr i="1" lang="en-US" sz="1050" u="none" cap="none" strike="noStrike">
                          <a:solidFill>
                            <a:srgbClr val="6E6A5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n/a</a:t>
                      </a:r>
                      <a:endParaRPr sz="10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575" marB="3657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4E8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8"/>
          <p:cNvSpPr/>
          <p:nvPr/>
        </p:nvSpPr>
        <p:spPr>
          <a:xfrm>
            <a:off x="548640" y="274320"/>
            <a:ext cx="292608" cy="292608"/>
          </a:xfrm>
          <a:prstGeom prst="rect">
            <a:avLst/>
          </a:prstGeom>
          <a:noFill/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282" name="Google Shape;282;p8"/>
          <p:cNvCxnSpPr/>
          <p:nvPr/>
        </p:nvCxnSpPr>
        <p:spPr>
          <a:xfrm>
            <a:off x="694944" y="274320"/>
            <a:ext cx="0" cy="292608"/>
          </a:xfrm>
          <a:prstGeom prst="straightConnector1">
            <a:avLst/>
          </a:prstGeom>
          <a:noFill/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83" name="Google Shape;283;p8"/>
          <p:cNvCxnSpPr/>
          <p:nvPr/>
        </p:nvCxnSpPr>
        <p:spPr>
          <a:xfrm>
            <a:off x="694944" y="420624"/>
            <a:ext cx="146304" cy="0"/>
          </a:xfrm>
          <a:prstGeom prst="straightConnector1">
            <a:avLst/>
          </a:prstGeom>
          <a:noFill/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4" name="Google Shape;284;p8"/>
          <p:cNvSpPr txBox="1"/>
          <p:nvPr/>
        </p:nvSpPr>
        <p:spPr>
          <a:xfrm>
            <a:off x="987552" y="329184"/>
            <a:ext cx="38404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950"/>
              <a:buFont typeface="Arial"/>
              <a:buNone/>
            </a:pPr>
            <a:r>
              <a:rPr b="1" lang="en-US" sz="950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RECURSION — EDITION II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8"/>
          <p:cNvSpPr/>
          <p:nvPr/>
        </p:nvSpPr>
        <p:spPr>
          <a:xfrm rot="240000">
            <a:off x="10972800" y="237744"/>
            <a:ext cx="621792" cy="621792"/>
          </a:xfrm>
          <a:prstGeom prst="rect">
            <a:avLst/>
          </a:prstGeom>
          <a:solidFill>
            <a:srgbClr val="FF3D1F"/>
          </a:solidFill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63500">
              <a:srgbClr val="111111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6" name="Google Shape;286;p8"/>
          <p:cNvSpPr txBox="1"/>
          <p:nvPr/>
        </p:nvSpPr>
        <p:spPr>
          <a:xfrm rot="240000">
            <a:off x="10972800" y="246888"/>
            <a:ext cx="621792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700"/>
              <a:buFont typeface="Arial Black"/>
              <a:buNone/>
            </a:pPr>
            <a:r>
              <a:rPr lang="en-US" sz="170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08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87" name="Google Shape;287;p8"/>
          <p:cNvCxnSpPr/>
          <p:nvPr/>
        </p:nvCxnSpPr>
        <p:spPr>
          <a:xfrm>
            <a:off x="548640" y="6455664"/>
            <a:ext cx="11094415" cy="0"/>
          </a:xfrm>
          <a:prstGeom prst="straightConnector1">
            <a:avLst/>
          </a:prstGeom>
          <a:noFill/>
          <a:ln cap="flat" cmpd="sng" w="28575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8" name="Google Shape;288;p8"/>
          <p:cNvSpPr txBox="1"/>
          <p:nvPr/>
        </p:nvSpPr>
        <p:spPr>
          <a:xfrm>
            <a:off x="548640" y="6547104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6E6A5E"/>
                </a:solidFill>
                <a:latin typeface="Courier New"/>
                <a:ea typeface="Courier New"/>
                <a:cs typeface="Courier New"/>
                <a:sym typeface="Courier New"/>
              </a:rPr>
              <a:t>TECHNOVIT'S FLAGSHIP HACKATHON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8"/>
          <p:cNvSpPr txBox="1"/>
          <p:nvPr/>
        </p:nvSpPr>
        <p:spPr>
          <a:xfrm>
            <a:off x="8899855" y="6547104"/>
            <a:ext cx="2743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6E6A5E"/>
                </a:solidFill>
                <a:latin typeface="Courier New"/>
                <a:ea typeface="Courier New"/>
                <a:cs typeface="Courier New"/>
                <a:sym typeface="Courier New"/>
              </a:rPr>
              <a:t>FRAME 08 / 09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8"/>
          <p:cNvSpPr txBox="1"/>
          <p:nvPr/>
        </p:nvSpPr>
        <p:spPr>
          <a:xfrm>
            <a:off x="548640" y="932688"/>
            <a:ext cx="96926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3000"/>
              <a:buFont typeface="Arial Black"/>
              <a:buNone/>
            </a:pPr>
            <a:r>
              <a:rPr lang="en-US" sz="300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THE CONSOLE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8"/>
          <p:cNvSpPr/>
          <p:nvPr/>
        </p:nvSpPr>
        <p:spPr>
          <a:xfrm>
            <a:off x="548640" y="1920240"/>
            <a:ext cx="11091672" cy="4206240"/>
          </a:xfrm>
          <a:prstGeom prst="rect">
            <a:avLst/>
          </a:prstGeom>
          <a:solidFill>
            <a:srgbClr val="FFFFFF"/>
          </a:solidFill>
          <a:ln cap="flat" cmpd="sng" w="28575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101600">
              <a:srgbClr val="111111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2" name="Google Shape;292;p8"/>
          <p:cNvSpPr txBox="1"/>
          <p:nvPr/>
        </p:nvSpPr>
        <p:spPr>
          <a:xfrm>
            <a:off x="868680" y="2194560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1000"/>
              <a:buFont typeface="Courier New"/>
              <a:buNone/>
            </a:pPr>
            <a:r>
              <a:rPr lang="en-US" sz="1000">
                <a:solidFill>
                  <a:srgbClr val="6E6A5E"/>
                </a:solidFill>
                <a:latin typeface="Courier New"/>
                <a:ea typeface="Courier New"/>
                <a:cs typeface="Courier New"/>
                <a:sym typeface="Courier New"/>
              </a:rPr>
              <a:t>THE CONSOLE — 938 alerts, one reconstructed incident, the ranked root cause, and the response ladder showing what the evidence does and does not authorise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8"/>
          <p:cNvSpPr/>
          <p:nvPr/>
        </p:nvSpPr>
        <p:spPr>
          <a:xfrm>
            <a:off x="868680" y="5532120"/>
            <a:ext cx="384048" cy="384048"/>
          </a:xfrm>
          <a:prstGeom prst="rect">
            <a:avLst/>
          </a:prstGeom>
          <a:noFill/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294" name="Google Shape;294;p8"/>
          <p:cNvCxnSpPr/>
          <p:nvPr/>
        </p:nvCxnSpPr>
        <p:spPr>
          <a:xfrm>
            <a:off x="1060704" y="5532120"/>
            <a:ext cx="0" cy="384048"/>
          </a:xfrm>
          <a:prstGeom prst="straightConnector1">
            <a:avLst/>
          </a:prstGeom>
          <a:noFill/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95" name="Google Shape;295;p8"/>
          <p:cNvCxnSpPr/>
          <p:nvPr/>
        </p:nvCxnSpPr>
        <p:spPr>
          <a:xfrm>
            <a:off x="1060704" y="5724144"/>
            <a:ext cx="192024" cy="0"/>
          </a:xfrm>
          <a:prstGeom prst="straightConnector1">
            <a:avLst/>
          </a:prstGeom>
          <a:noFill/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96" name="Picture 295" descr="causal-grap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9888" y="2615184"/>
            <a:ext cx="9418320" cy="334670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4E8"/>
        </a:solidFill>
      </p:bgPr>
    </p:bg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9"/>
          <p:cNvSpPr/>
          <p:nvPr/>
        </p:nvSpPr>
        <p:spPr>
          <a:xfrm>
            <a:off x="548640" y="274320"/>
            <a:ext cx="292608" cy="292608"/>
          </a:xfrm>
          <a:prstGeom prst="rect">
            <a:avLst/>
          </a:prstGeom>
          <a:noFill/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304" name="Google Shape;304;p9"/>
          <p:cNvCxnSpPr/>
          <p:nvPr/>
        </p:nvCxnSpPr>
        <p:spPr>
          <a:xfrm>
            <a:off x="694944" y="274320"/>
            <a:ext cx="0" cy="292608"/>
          </a:xfrm>
          <a:prstGeom prst="straightConnector1">
            <a:avLst/>
          </a:prstGeom>
          <a:noFill/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05" name="Google Shape;305;p9"/>
          <p:cNvCxnSpPr/>
          <p:nvPr/>
        </p:nvCxnSpPr>
        <p:spPr>
          <a:xfrm>
            <a:off x="694944" y="420624"/>
            <a:ext cx="146304" cy="0"/>
          </a:xfrm>
          <a:prstGeom prst="straightConnector1">
            <a:avLst/>
          </a:prstGeom>
          <a:noFill/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06" name="Google Shape;306;p9"/>
          <p:cNvSpPr txBox="1"/>
          <p:nvPr/>
        </p:nvSpPr>
        <p:spPr>
          <a:xfrm>
            <a:off x="987552" y="329184"/>
            <a:ext cx="38404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950"/>
              <a:buFont typeface="Arial"/>
              <a:buNone/>
            </a:pPr>
            <a:r>
              <a:rPr b="1" lang="en-US" sz="950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RECURSION — EDITION II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9"/>
          <p:cNvSpPr/>
          <p:nvPr/>
        </p:nvSpPr>
        <p:spPr>
          <a:xfrm rot="240000">
            <a:off x="10972800" y="237744"/>
            <a:ext cx="621792" cy="621792"/>
          </a:xfrm>
          <a:prstGeom prst="rect">
            <a:avLst/>
          </a:prstGeom>
          <a:solidFill>
            <a:srgbClr val="FF3D1F"/>
          </a:solidFill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63500">
              <a:srgbClr val="111111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9"/>
          <p:cNvSpPr txBox="1"/>
          <p:nvPr/>
        </p:nvSpPr>
        <p:spPr>
          <a:xfrm rot="240000">
            <a:off x="10972800" y="246888"/>
            <a:ext cx="621792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700"/>
              <a:buFont typeface="Arial Black"/>
              <a:buNone/>
            </a:pPr>
            <a:r>
              <a:rPr lang="en-US" sz="170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09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09" name="Google Shape;309;p9"/>
          <p:cNvCxnSpPr/>
          <p:nvPr/>
        </p:nvCxnSpPr>
        <p:spPr>
          <a:xfrm>
            <a:off x="548640" y="6455664"/>
            <a:ext cx="11094415" cy="0"/>
          </a:xfrm>
          <a:prstGeom prst="straightConnector1">
            <a:avLst/>
          </a:prstGeom>
          <a:noFill/>
          <a:ln cap="flat" cmpd="sng" w="28575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10" name="Google Shape;310;p9"/>
          <p:cNvSpPr txBox="1"/>
          <p:nvPr/>
        </p:nvSpPr>
        <p:spPr>
          <a:xfrm>
            <a:off x="548640" y="6547104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6E6A5E"/>
                </a:solidFill>
                <a:latin typeface="Courier New"/>
                <a:ea typeface="Courier New"/>
                <a:cs typeface="Courier New"/>
                <a:sym typeface="Courier New"/>
              </a:rPr>
              <a:t>TECHNOVIT'S FLAGSHIP HACKATHON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9"/>
          <p:cNvSpPr txBox="1"/>
          <p:nvPr/>
        </p:nvSpPr>
        <p:spPr>
          <a:xfrm>
            <a:off x="8899855" y="6547104"/>
            <a:ext cx="2743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6E6A5E"/>
                </a:solidFill>
                <a:latin typeface="Courier New"/>
                <a:ea typeface="Courier New"/>
                <a:cs typeface="Courier New"/>
                <a:sym typeface="Courier New"/>
              </a:rPr>
              <a:t>FRAME 09 / 09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9"/>
          <p:cNvSpPr txBox="1"/>
          <p:nvPr/>
        </p:nvSpPr>
        <p:spPr>
          <a:xfrm>
            <a:off x="548640" y="932688"/>
            <a:ext cx="96926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3000"/>
              <a:buFont typeface="Arial Black"/>
              <a:buNone/>
            </a:pPr>
            <a:r>
              <a:rPr lang="en-US" sz="300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TEAM &amp; CONTACT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9"/>
          <p:cNvSpPr txBox="1"/>
          <p:nvPr/>
        </p:nvSpPr>
        <p:spPr>
          <a:xfrm>
            <a:off x="548640" y="1554480"/>
            <a:ext cx="96926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1000"/>
              <a:buFont typeface="Courier New"/>
              <a:buNone/>
            </a:pPr>
            <a:r>
              <a:rPr lang="en-US" sz="1000">
                <a:solidFill>
                  <a:srgbClr val="6E6A5E"/>
                </a:solidFill>
                <a:latin typeface="Courier New"/>
                <a:ea typeface="Courier New"/>
                <a:cs typeface="Courier New"/>
                <a:sym typeface="Courier New"/>
              </a:rPr>
              <a:t>one line per member · so organisers can reach you after submission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9"/>
          <p:cNvSpPr txBox="1"/>
          <p:nvPr/>
        </p:nvSpPr>
        <p:spPr>
          <a:xfrm>
            <a:off x="548640" y="1883664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700"/>
              <a:buFont typeface="Arial Black"/>
              <a:buNone/>
            </a:pPr>
            <a:r>
              <a:rPr lang="en-US" sz="1700">
                <a:solidFill>
                  <a:srgbClr val="111111"/>
                </a:solidFill>
                <a:latin typeface="Arial Black"/>
                <a:ea typeface="Arial Black"/>
                <a:cs typeface="Arial Black"/>
                <a:sym typeface="Arial Black"/>
              </a:rPr>
              <a:t>Marlloz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9"/>
          <p:cNvSpPr txBox="1"/>
          <p:nvPr/>
        </p:nvSpPr>
        <p:spPr>
          <a:xfrm>
            <a:off x="548640" y="2340864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A5E"/>
              </a:buClr>
              <a:buSzPts val="850"/>
              <a:buFont typeface="Courier New"/>
              <a:buNone/>
            </a:pPr>
            <a:r>
              <a:rPr lang="en-US" sz="850">
                <a:solidFill>
                  <a:srgbClr val="6E6A5E"/>
                </a:solidFill>
                <a:latin typeface="Courier New"/>
                <a:ea typeface="Courier New"/>
                <a:cs typeface="Courier New"/>
                <a:sym typeface="Courier New"/>
              </a:rPr>
              <a:t>TABLE 09-A — TEAM CONTACT SHEET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9"/>
          <p:cNvSpPr/>
          <p:nvPr/>
        </p:nvSpPr>
        <p:spPr>
          <a:xfrm>
            <a:off x="630936" y="2679192"/>
            <a:ext cx="11091672" cy="3145536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aphicFrame>
        <p:nvGraphicFramePr>
          <p:cNvPr id="317" name="Google Shape;317;p9"/>
          <p:cNvGraphicFramePr/>
          <p:nvPr/>
        </p:nvGraphicFramePr>
        <p:xfrm>
          <a:off x="548640" y="2596896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{D47496C2-0CEE-4B0A-BE6E-AE1266184CF1}</a:tableStyleId>
              </a:tblPr>
              <a:tblGrid>
                <a:gridCol w="2926075"/>
                <a:gridCol w="2743200"/>
                <a:gridCol w="5422400"/>
              </a:tblGrid>
              <a:tr h="402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AF4E8"/>
                        </a:buClr>
                        <a:buSzPts val="900"/>
                        <a:buFont typeface="Arial Black"/>
                        <a:buNone/>
                      </a:pPr>
                      <a:r>
                        <a:rPr lang="en-US" sz="900" u="none" cap="none" strike="noStrike">
                          <a:solidFill>
                            <a:srgbClr val="FAF4E8"/>
                          </a:solidFill>
                          <a:latin typeface="Arial Black"/>
                          <a:ea typeface="Arial Black"/>
                          <a:cs typeface="Arial Black"/>
                          <a:sym typeface="Arial Black"/>
                        </a:rPr>
                        <a:t>NAME</a:t>
                      </a:r>
                      <a:endParaRPr sz="900" u="none" cap="none" strike="noStrike">
                        <a:latin typeface="Arial Black"/>
                        <a:ea typeface="Arial Black"/>
                        <a:cs typeface="Arial Black"/>
                        <a:sym typeface="Arial Black"/>
                      </a:endParaRPr>
                    </a:p>
                  </a:txBody>
                  <a:tcPr marT="45725" marB="4572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AF4E8"/>
                        </a:buClr>
                        <a:buSzPts val="900"/>
                        <a:buFont typeface="Arial Black"/>
                        <a:buNone/>
                      </a:pPr>
                      <a:r>
                        <a:rPr lang="en-US" sz="900" u="none" cap="none" strike="noStrike">
                          <a:solidFill>
                            <a:srgbClr val="FAF4E8"/>
                          </a:solidFill>
                          <a:latin typeface="Arial Black"/>
                          <a:ea typeface="Arial Black"/>
                          <a:cs typeface="Arial Black"/>
                          <a:sym typeface="Arial Black"/>
                        </a:rPr>
                        <a:t>PHONE</a:t>
                      </a:r>
                      <a:endParaRPr sz="900" u="none" cap="none" strike="noStrike">
                        <a:latin typeface="Arial Black"/>
                        <a:ea typeface="Arial Black"/>
                        <a:cs typeface="Arial Black"/>
                        <a:sym typeface="Arial Black"/>
                      </a:endParaRPr>
                    </a:p>
                  </a:txBody>
                  <a:tcPr marT="45725" marB="4572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AF4E8"/>
                        </a:buClr>
                        <a:buSzPts val="900"/>
                        <a:buFont typeface="Arial Black"/>
                        <a:buNone/>
                      </a:pPr>
                      <a:r>
                        <a:rPr lang="en-US" sz="900" u="none" cap="none" strike="noStrike">
                          <a:solidFill>
                            <a:srgbClr val="FAF4E8"/>
                          </a:solidFill>
                          <a:latin typeface="Arial Black"/>
                          <a:ea typeface="Arial Black"/>
                          <a:cs typeface="Arial Black"/>
                          <a:sym typeface="Arial Black"/>
                        </a:rPr>
                        <a:t>EMAIL</a:t>
                      </a:r>
                      <a:endParaRPr sz="900" u="none" cap="none" strike="noStrike">
                        <a:latin typeface="Arial Black"/>
                        <a:ea typeface="Arial Black"/>
                        <a:cs typeface="Arial Black"/>
                        <a:sym typeface="Arial Black"/>
                      </a:endParaRPr>
                    </a:p>
                  </a:txBody>
                  <a:tcPr marT="45725" marB="4572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111"/>
                    </a:solidFill>
                  </a:tcPr>
                </a:tc>
              </a:tr>
              <a:tr h="548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1"/>
                        </a:buClr>
                        <a:buSzPts val="1100"/>
                        <a:buFont typeface="Arial Black"/>
                        <a:buNone/>
                      </a:pPr>
                      <a:r>
                        <a:rPr lang="en-US" sz="1100" u="none" cap="none" strike="noStrike">
                          <a:solidFill>
                            <a:srgbClr val="111111"/>
                          </a:solidFill>
                          <a:latin typeface="Arial Black"/>
                          <a:ea typeface="Arial Black"/>
                          <a:cs typeface="Arial Black"/>
                          <a:sym typeface="Arial Black"/>
                        </a:rPr>
                        <a:t>[ Name ]</a:t>
                      </a:r>
                      <a:endParaRPr sz="1100" u="none" cap="none" strike="noStrike">
                        <a:latin typeface="Arial Black"/>
                        <a:ea typeface="Arial Black"/>
                        <a:cs typeface="Arial Black"/>
                        <a:sym typeface="Arial Black"/>
                      </a:endParaRPr>
                    </a:p>
                  </a:txBody>
                  <a:tcPr marT="36575" marB="3657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A5E"/>
                        </a:buClr>
                        <a:buSzPts val="1050"/>
                        <a:buFont typeface="Arial"/>
                        <a:buNone/>
                      </a:pPr>
                      <a:r>
                        <a:rPr i="1" lang="en-US" sz="1050" u="none" cap="none" strike="noStrike">
                          <a:solidFill>
                            <a:srgbClr val="6E6A5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[ phone number ]</a:t>
                      </a:r>
                      <a:endParaRPr sz="10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575" marB="3657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A5E"/>
                        </a:buClr>
                        <a:buSzPts val="1050"/>
                        <a:buFont typeface="Arial"/>
                        <a:buNone/>
                      </a:pPr>
                      <a:r>
                        <a:rPr i="1" lang="en-US" sz="1050" u="none" cap="none" strike="noStrike">
                          <a:solidFill>
                            <a:srgbClr val="6E6A5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[ email address ]</a:t>
                      </a:r>
                      <a:endParaRPr sz="10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575" marB="3657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48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1"/>
                        </a:buClr>
                        <a:buSzPts val="1100"/>
                        <a:buFont typeface="Arial Black"/>
                        <a:buNone/>
                      </a:pPr>
                      <a:r>
                        <a:rPr lang="en-US" sz="1100" u="none" cap="none" strike="noStrike">
                          <a:solidFill>
                            <a:srgbClr val="111111"/>
                          </a:solidFill>
                          <a:latin typeface="Arial Black"/>
                          <a:ea typeface="Arial Black"/>
                          <a:cs typeface="Arial Black"/>
                          <a:sym typeface="Arial Black"/>
                        </a:rPr>
                        <a:t>[ Name ]</a:t>
                      </a:r>
                      <a:endParaRPr sz="1100" u="none" cap="none" strike="noStrike">
                        <a:latin typeface="Arial Black"/>
                        <a:ea typeface="Arial Black"/>
                        <a:cs typeface="Arial Black"/>
                        <a:sym typeface="Arial Black"/>
                      </a:endParaRPr>
                    </a:p>
                  </a:txBody>
                  <a:tcPr marT="36575" marB="3657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A5E"/>
                        </a:buClr>
                        <a:buSzPts val="1050"/>
                        <a:buFont typeface="Arial"/>
                        <a:buNone/>
                      </a:pPr>
                      <a:r>
                        <a:rPr i="1" lang="en-US" sz="1050" u="none" cap="none" strike="noStrike">
                          <a:solidFill>
                            <a:srgbClr val="6E6A5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[ phone number ]</a:t>
                      </a:r>
                      <a:endParaRPr sz="10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575" marB="3657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A5E"/>
                        </a:buClr>
                        <a:buSzPts val="1050"/>
                        <a:buFont typeface="Arial"/>
                        <a:buNone/>
                      </a:pPr>
                      <a:r>
                        <a:rPr i="1" lang="en-US" sz="1050" u="none" cap="none" strike="noStrike">
                          <a:solidFill>
                            <a:srgbClr val="6E6A5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[ email address ]</a:t>
                      </a:r>
                      <a:endParaRPr sz="10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575" marB="3657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48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1"/>
                        </a:buClr>
                        <a:buSzPts val="1100"/>
                        <a:buFont typeface="Arial Black"/>
                        <a:buNone/>
                      </a:pPr>
                      <a:r>
                        <a:rPr lang="en-US" sz="1100" u="none" cap="none" strike="noStrike">
                          <a:solidFill>
                            <a:srgbClr val="111111"/>
                          </a:solidFill>
                          <a:latin typeface="Arial Black"/>
                          <a:ea typeface="Arial Black"/>
                          <a:cs typeface="Arial Black"/>
                          <a:sym typeface="Arial Black"/>
                        </a:rPr>
                        <a:t>[ Name ]</a:t>
                      </a:r>
                      <a:endParaRPr sz="1100" u="none" cap="none" strike="noStrike">
                        <a:latin typeface="Arial Black"/>
                        <a:ea typeface="Arial Black"/>
                        <a:cs typeface="Arial Black"/>
                        <a:sym typeface="Arial Black"/>
                      </a:endParaRPr>
                    </a:p>
                  </a:txBody>
                  <a:tcPr marT="36575" marB="3657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A5E"/>
                        </a:buClr>
                        <a:buSzPts val="1050"/>
                        <a:buFont typeface="Arial"/>
                        <a:buNone/>
                      </a:pPr>
                      <a:r>
                        <a:rPr i="1" lang="en-US" sz="1050" u="none" cap="none" strike="noStrike">
                          <a:solidFill>
                            <a:srgbClr val="6E6A5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[ phone number ]</a:t>
                      </a:r>
                      <a:endParaRPr sz="10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575" marB="3657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A5E"/>
                        </a:buClr>
                        <a:buSzPts val="1050"/>
                        <a:buFont typeface="Arial"/>
                        <a:buNone/>
                      </a:pPr>
                      <a:r>
                        <a:rPr i="1" lang="en-US" sz="1050" u="none" cap="none" strike="noStrike">
                          <a:solidFill>
                            <a:srgbClr val="6E6A5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[ email address ]</a:t>
                      </a:r>
                      <a:endParaRPr sz="10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575" marB="3657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48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1"/>
                        </a:buClr>
                        <a:buSzPts val="1100"/>
                        <a:buFont typeface="Arial Black"/>
                        <a:buNone/>
                      </a:pPr>
                      <a:r>
                        <a:rPr lang="en-US" sz="1100" u="none" cap="none" strike="noStrike">
                          <a:solidFill>
                            <a:srgbClr val="111111"/>
                          </a:solidFill>
                          <a:latin typeface="Arial Black"/>
                          <a:ea typeface="Arial Black"/>
                          <a:cs typeface="Arial Black"/>
                          <a:sym typeface="Arial Black"/>
                        </a:rPr>
                        <a:t>[ Name ]</a:t>
                      </a:r>
                      <a:endParaRPr sz="1100" u="none" cap="none" strike="noStrike">
                        <a:latin typeface="Arial Black"/>
                        <a:ea typeface="Arial Black"/>
                        <a:cs typeface="Arial Black"/>
                        <a:sym typeface="Arial Black"/>
                      </a:endParaRPr>
                    </a:p>
                  </a:txBody>
                  <a:tcPr marT="36575" marB="3657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A5E"/>
                        </a:buClr>
                        <a:buSzPts val="1050"/>
                        <a:buFont typeface="Arial"/>
                        <a:buNone/>
                      </a:pPr>
                      <a:r>
                        <a:rPr i="1" lang="en-US" sz="1050" u="none" cap="none" strike="noStrike">
                          <a:solidFill>
                            <a:srgbClr val="6E6A5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[ phone number ]</a:t>
                      </a:r>
                      <a:endParaRPr sz="10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575" marB="3657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A5E"/>
                        </a:buClr>
                        <a:buSzPts val="1050"/>
                        <a:buFont typeface="Arial"/>
                        <a:buNone/>
                      </a:pPr>
                      <a:r>
                        <a:rPr i="1" lang="en-US" sz="1050" u="none" cap="none" strike="noStrike">
                          <a:solidFill>
                            <a:srgbClr val="6E6A5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[ email address ]</a:t>
                      </a:r>
                      <a:endParaRPr sz="10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575" marB="3657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48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1"/>
                        </a:buClr>
                        <a:buSzPts val="1100"/>
                        <a:buFont typeface="Arial Black"/>
                        <a:buNone/>
                      </a:pPr>
                      <a:r>
                        <a:rPr lang="en-US" sz="1100" u="none" cap="none" strike="noStrike">
                          <a:solidFill>
                            <a:srgbClr val="111111"/>
                          </a:solidFill>
                          <a:latin typeface="Arial Black"/>
                          <a:ea typeface="Arial Black"/>
                          <a:cs typeface="Arial Black"/>
                          <a:sym typeface="Arial Black"/>
                        </a:rPr>
                        <a:t>[ Name ]</a:t>
                      </a:r>
                      <a:endParaRPr sz="1100" u="none" cap="none" strike="noStrike">
                        <a:latin typeface="Arial Black"/>
                        <a:ea typeface="Arial Black"/>
                        <a:cs typeface="Arial Black"/>
                        <a:sym typeface="Arial Black"/>
                      </a:endParaRPr>
                    </a:p>
                  </a:txBody>
                  <a:tcPr marT="36575" marB="3657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A5E"/>
                        </a:buClr>
                        <a:buSzPts val="1050"/>
                        <a:buFont typeface="Arial"/>
                        <a:buNone/>
                      </a:pPr>
                      <a:r>
                        <a:rPr i="1" lang="en-US" sz="1050" u="none" cap="none" strike="noStrike">
                          <a:solidFill>
                            <a:srgbClr val="6E6A5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[ phone number ]</a:t>
                      </a:r>
                      <a:endParaRPr sz="10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575" marB="3657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A5E"/>
                        </a:buClr>
                        <a:buSzPts val="1050"/>
                        <a:buFont typeface="Arial"/>
                        <a:buNone/>
                      </a:pPr>
                      <a:r>
                        <a:rPr i="1" lang="en-US" sz="1050" u="none" cap="none" strike="noStrike">
                          <a:solidFill>
                            <a:srgbClr val="6E6A5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[ email address ]</a:t>
                      </a:r>
                      <a:endParaRPr sz="10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6575" marB="36575" marR="73150" marL="91450" anchor="ctr">
                    <a:lnL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11111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8" name="Google Shape;318;p9"/>
          <p:cNvSpPr txBox="1"/>
          <p:nvPr/>
        </p:nvSpPr>
        <p:spPr>
          <a:xfrm>
            <a:off x="548640" y="5943600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None/>
            </a:pPr>
            <a:r>
              <a:t/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9"/>
          <p:cNvSpPr/>
          <p:nvPr/>
        </p:nvSpPr>
        <p:spPr>
          <a:xfrm>
            <a:off x="10972800" y="5870448"/>
            <a:ext cx="365760" cy="365760"/>
          </a:xfrm>
          <a:prstGeom prst="rect">
            <a:avLst/>
          </a:prstGeom>
          <a:noFill/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320" name="Google Shape;320;p9"/>
          <p:cNvCxnSpPr/>
          <p:nvPr/>
        </p:nvCxnSpPr>
        <p:spPr>
          <a:xfrm>
            <a:off x="11155680" y="5870448"/>
            <a:ext cx="0" cy="365760"/>
          </a:xfrm>
          <a:prstGeom prst="straightConnector1">
            <a:avLst/>
          </a:prstGeom>
          <a:noFill/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21" name="Google Shape;321;p9"/>
          <p:cNvCxnSpPr/>
          <p:nvPr/>
        </p:nvCxnSpPr>
        <p:spPr>
          <a:xfrm>
            <a:off x="11155680" y="6053328"/>
            <a:ext cx="182880" cy="0"/>
          </a:xfrm>
          <a:prstGeom prst="straightConnector1">
            <a:avLst/>
          </a:prstGeom>
          <a:noFill/>
          <a:ln cap="flat" cmpd="sng" w="254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2026-08-26T12:08:21Z</dcterms:created>
  <dc:creator>PptxGenJS</dc:creator>
</cp:coreProperties>
</file>